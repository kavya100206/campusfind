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faculty members. Today I am presenting the engineering design and DevOps implementation of CampusFind, a cloud-native lost and found tracker. This defense covers our architectural choices across containerization, automated GitHub Actions CI/CD, Aqua Trivy container security gates, modular Terraform provisioning on AWS, Helm deployments on Kubernetes, and real-time Prometheus and Grafana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 lost-and-found management typically suffers from fragmented physical logs and inconsistent communication channels. CampusFind solves this by providing a unified web platform with categorical filtering and real-time inventory tracking. The system enforces a strict state machine where items begin as LOST or FOUND and can only transition forward to CLAIMED. The primary engineering objective was to establish an enterprise-grade DevOps foundation supporting this application end-to-end.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follows a three-tier microservices architecture decoupled through Kubernetes networking. Incoming requests hit the Traefik ingress controller, which routes static asset requests to our unprivileged Nginx container and API calls to FastAPI. The backend interacts with a dedicated PostgreSQL 16 instance using SQLAlchemy ORM and Alembic migrations. Prometheus and Grafana operate concurrently within the cluster to scrape telemetry and monitor system health.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API provides RESTful endpoints for item lifecycle management and operational monitoring probes. To ensure deterministic and fast test execution in CI, we decoupled the test suite from external PostgreSQL containers. By utilizing an in-memory SQLite database configured in conftest.py, all 11 pytest integration tests complete in just 0.05 seconds. This architectural decision eliminates flaky network dependencies during automated quality gate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application container images are built adhering to strict container security standards. The frontend uses a multi-stage Docker build to keep developer tooling out of the runtime image, serving assets via unprivileged Nginx on UID 101. The backend runs as non-root UID 1000 on Python 3.12-slim. During local validation, we resolved an Alpine BusyBox wget timeout by explicitly specifying 127.0.0.1, ensuring health checks pass reliably.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deployment automation is defined in .github/workflows/ci-cd.yml and runs automatically on all commits to main. The workflow enforces a fail-fast strategy: code quality and unit tests are evaluated first, halting the pipeline immediately on test regressions. Container images are assembled with Docker Buildx and tagged exclusively with the git commit SHA. This practice ensures that every container deployed to our clusters is traceable to an exact immutable commit.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DevSecOps principles are applied by shifting security scanning into our pull request pipeline. During initial builds, Aqua Trivy halted the pipeline in CI Run #8 due to three HIGH-severity CVEs in Starlette, which was pulled transitively by FastAPI. We remediated these vulnerabilities by upgrading FastAPI and Prometheus instrumentor versions, allowing Starlette to resolve to version 1.8.0. Additionally, we updated base Alpine packages, achieving a clean security gate in CI Run #10.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cloud infrastructure is codified using modular Terraform in the Sydney ap-southeast-2 region. The plan provisions a multi-AZ VPC, route tables, a NAT Gateway, and an EKS 1.35 cluster with two t3.small worker nodes. Because our AWS account is governed by an organization SCP that prohibits IAM OIDC provider creation, we placed IRSA and EBS CSI behind a feature flag. The entire stack was planned, applied, verified in the AWS Console, and subsequently destroyed to prevent unnecessary cloud expenditure.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deployment is managed via a custom Helm chart on a local kind cluster running Kubernetes 1.37. Frontend and backend deployments run with two replicas each behind ClusterIP services, routed through Traefik Ingress. To avoid startup race conditions where FastAPI crashes before PostgreSQL is ready, we implemented an init container that polls port 5432. Using a local kind cluster allowed complete validation of our Kubernetes manifests without cloud runtime costs.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is established through the Prometheus Operator and custom Grafana dashboards. FastAPI instruments request metrics via prometheus-fastapi-instrumentator, which are scraped by a Kubernetes ServiceMonitor. During a simulated 75-second load test pushing approximately 130 requests per second, the Horizontal Pod Autoscaler triggered on CPU load. The backend successfully scaled from 2 to 6 replicas while maintaining zero 5xx errors and sub-half-second P95 latencies.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resilience requires understanding failure modes and diagnosing them systematically. We documented and resolved multiple operational incidents, including Kubernetes ImagePullBackOff and Service selector label mismatches. In our Docker environment, we corrected an IPv6 resolution failure in BusyBox wget. Finally, encountering an organizational SCP on AWS taught us the value of modular feature flags in infrastructure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CampusFind successfully demonstrates a complete, production-grade DevOps engineering lifecycle. We achieved automated testing, secure container publishing, codified cloud infrastructure, and dynamic autoscaling under load. We operated within realistic constraints: validating AWS provisioning via Terraform before teardown, and hosting Kubernetes on kind to manage cloud costs. Thank you for your time, and I welcome your questions on the architecture and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9966960" cy="1645920"/>
          </a:xfrm>
          <a:prstGeom prst="rect">
            <a:avLst/>
          </a:prstGeom>
          <a:noFill/>
        </p:spPr>
        <p:txBody>
          <a:bodyPr wrap="square" lIns="0" tIns="0" rIns="0" bIns="0">
            <a:spAutoFit/>
          </a:bodyPr>
          <a:lstStyle/>
          <a:p>
            <a:pPr>
              <a:defRPr sz="4000" b="1">
                <a:solidFill>
                  <a:srgbClr val="1E293B"/>
                </a:solidFill>
                <a:latin typeface="Calibri"/>
              </a:defRPr>
            </a:pPr>
            <a:r>
              <a:t>CampusFind: Campus Lost &amp; Found Tracker</a:t>
            </a:r>
          </a:p>
          <a:p>
            <a:pPr>
              <a:spcBef>
                <a:spcPts val="1200"/>
              </a:spcBef>
              <a:defRPr sz="2200">
                <a:solidFill>
                  <a:srgbClr val="0F766E"/>
                </a:solidFill>
                <a:latin typeface="Calibri"/>
              </a:defRPr>
            </a:pPr>
            <a:r>
              <a:t>A Cloud-Native DevOps Implementation</a:t>
            </a:r>
          </a:p>
        </p:txBody>
      </p:sp>
      <p:sp>
        <p:nvSpPr>
          <p:cNvPr id="4" name="Rectangle 3"/>
          <p:cNvSpPr/>
          <p:nvPr/>
        </p:nvSpPr>
        <p:spPr>
          <a:xfrm>
            <a:off x="1097280" y="3840480"/>
            <a:ext cx="201168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06240"/>
            <a:ext cx="9966960" cy="731520"/>
          </a:xfrm>
          <a:prstGeom prst="rect">
            <a:avLst/>
          </a:prstGeom>
          <a:noFill/>
        </p:spPr>
        <p:txBody>
          <a:bodyPr wrap="square" lIns="0" tIns="0" rIns="0" bIns="0">
            <a:spAutoFit/>
          </a:bodyPr>
          <a:lstStyle/>
          <a:p>
            <a:pPr>
              <a:defRPr sz="2200">
                <a:solidFill>
                  <a:srgbClr val="334155"/>
                </a:solidFill>
                <a:latin typeface="Calibri"/>
              </a:defRPr>
            </a:pPr>
            <a:r>
              <a:t>Presenter: Kavya Raghavendran</a:t>
            </a:r>
          </a:p>
        </p:txBody>
      </p:sp>
      <p:sp>
        <p:nvSpPr>
          <p:cNvPr id="6" name="TextBox 5"/>
          <p:cNvSpPr txBox="1"/>
          <p:nvPr/>
        </p:nvSpPr>
        <p:spPr>
          <a:xfrm>
            <a:off x="1097280" y="6309360"/>
            <a:ext cx="9966960" cy="274320"/>
          </a:xfrm>
          <a:prstGeom prst="rect">
            <a:avLst/>
          </a:prstGeom>
          <a:noFill/>
        </p:spPr>
        <p:txBody>
          <a:bodyPr wrap="none">
            <a:spAutoFit/>
          </a:bodyPr>
          <a:lstStyle/>
          <a:p>
            <a:pPr>
              <a:defRPr sz="1000">
                <a:solidFill>
                  <a:srgbClr val="64748B"/>
                </a:solidFill>
                <a:latin typeface="Calibri"/>
              </a:defRPr>
            </a:pPr>
            <a:r>
              <a:t>CampusFind — DevOps Engineering Design Review   |   Slide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Problem Definition &amp; Operational Scope</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2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Campus operational challenge: Fragmented, manual lost property records result in low item recovery rates and delayed claims</a:t>
            </a:r>
          </a:p>
          <a:p>
            <a:pPr>
              <a:lnSpc>
                <a:spcPct val="115000"/>
              </a:lnSpc>
              <a:spcAft>
                <a:spcPts val="600"/>
              </a:spcAft>
              <a:defRPr sz="1800">
                <a:solidFill>
                  <a:srgbClr val="334155"/>
                </a:solidFill>
                <a:latin typeface="Calibri"/>
              </a:defRPr>
            </a:pPr>
            <a:r>
              <a:t>•  Unified self-service portal: Centralized reporting, multi-parameter search (status, category, text), and real-time counters</a:t>
            </a:r>
          </a:p>
          <a:p>
            <a:pPr>
              <a:lnSpc>
                <a:spcPct val="115000"/>
              </a:lnSpc>
              <a:spcAft>
                <a:spcPts val="600"/>
              </a:spcAft>
              <a:defRPr sz="1800">
                <a:solidFill>
                  <a:srgbClr val="334155"/>
                </a:solidFill>
                <a:latin typeface="Calibri"/>
              </a:defRPr>
            </a:pPr>
            <a:r>
              <a:t>•  Deterministic lifecycle state machine: Strict transition rules enforce initial LOST/FOUND states to terminal CLAIMED status</a:t>
            </a:r>
          </a:p>
          <a:p>
            <a:pPr>
              <a:lnSpc>
                <a:spcPct val="115000"/>
              </a:lnSpc>
              <a:spcAft>
                <a:spcPts val="600"/>
              </a:spcAft>
              <a:defRPr sz="1800">
                <a:solidFill>
                  <a:srgbClr val="334155"/>
                </a:solidFill>
                <a:latin typeface="Calibri"/>
              </a:defRPr>
            </a:pPr>
            <a:r>
              <a:t>•  Data integrity constraints: Mandatory location tagging, item categorization, and audit timestamps across all records</a:t>
            </a:r>
          </a:p>
          <a:p>
            <a:pPr>
              <a:lnSpc>
                <a:spcPct val="115000"/>
              </a:lnSpc>
              <a:spcAft>
                <a:spcPts val="600"/>
              </a:spcAft>
              <a:defRPr sz="1800">
                <a:solidFill>
                  <a:srgbClr val="334155"/>
                </a:solidFill>
                <a:latin typeface="Calibri"/>
              </a:defRPr>
            </a:pPr>
            <a:r>
              <a:t>•  DevOps engineering scope: Codification and deployment of the complete application lifecycle from dev to cloud orchestration</a:t>
            </a:r>
          </a:p>
        </p:txBody>
      </p:sp>
      <p:sp>
        <p:nvSpPr>
          <p:cNvPr id="6" name="Rectangle 5"/>
          <p:cNvSpPr/>
          <p:nvPr/>
        </p:nvSpPr>
        <p:spPr>
          <a:xfrm>
            <a:off x="5961888" y="1682496"/>
            <a:ext cx="5541264" cy="36210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app.jpg"/>
          <p:cNvPicPr>
            <a:picLocks noChangeAspect="1"/>
          </p:cNvPicPr>
          <p:nvPr/>
        </p:nvPicPr>
        <p:blipFill>
          <a:blip r:embed="rId2"/>
          <a:stretch>
            <a:fillRect/>
          </a:stretch>
        </p:blipFill>
        <p:spPr>
          <a:xfrm>
            <a:off x="5989320" y="1709928"/>
            <a:ext cx="5486400" cy="3566160"/>
          </a:xfrm>
          <a:prstGeom prst="rect">
            <a:avLst/>
          </a:prstGeom>
        </p:spPr>
      </p:pic>
      <p:sp>
        <p:nvSpPr>
          <p:cNvPr id="8" name="TextBox 7"/>
          <p:cNvSpPr txBox="1"/>
          <p:nvPr/>
        </p:nvSpPr>
        <p:spPr>
          <a:xfrm>
            <a:off x="5989320" y="5852160"/>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1: CampusFind web user interface showing item registry, category filters, and status counters.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System Architecture &amp; Technology Stack</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3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Edge traffic routing: Traefik Ingress controller routes external HTTP traffic on port 80 to decoupled application services</a:t>
            </a:r>
          </a:p>
          <a:p>
            <a:pPr>
              <a:lnSpc>
                <a:spcPct val="115000"/>
              </a:lnSpc>
              <a:spcAft>
                <a:spcPts val="600"/>
              </a:spcAft>
              <a:defRPr sz="1800">
                <a:solidFill>
                  <a:srgbClr val="334155"/>
                </a:solidFill>
                <a:latin typeface="Calibri"/>
              </a:defRPr>
            </a:pPr>
            <a:r>
              <a:t>•  Single-page frontend: React 18.3.1 application compiled via Vite 5.4.21, served by unprivileged Nginx 1.27 Alpine</a:t>
            </a:r>
          </a:p>
          <a:p>
            <a:pPr>
              <a:lnSpc>
                <a:spcPct val="115000"/>
              </a:lnSpc>
              <a:spcAft>
                <a:spcPts val="600"/>
              </a:spcAft>
              <a:defRPr sz="1800">
                <a:solidFill>
                  <a:srgbClr val="334155"/>
                </a:solidFill>
                <a:latin typeface="Calibri"/>
              </a:defRPr>
            </a:pPr>
            <a:r>
              <a:t>•  Stateless API tier: FastAPI 0.143.0 ASGI server running on Python 3.12-slim, handling business logic and ORM queries</a:t>
            </a:r>
          </a:p>
          <a:p>
            <a:pPr>
              <a:lnSpc>
                <a:spcPct val="115000"/>
              </a:lnSpc>
              <a:spcAft>
                <a:spcPts val="600"/>
              </a:spcAft>
              <a:defRPr sz="1800">
                <a:solidFill>
                  <a:srgbClr val="334155"/>
                </a:solidFill>
                <a:latin typeface="Calibri"/>
              </a:defRPr>
            </a:pPr>
            <a:r>
              <a:t>•  Stateful persistence: PostgreSQL 16 Alpine database with schema migrations managed and applied through Alembic 1.14.0</a:t>
            </a:r>
          </a:p>
          <a:p>
            <a:pPr>
              <a:lnSpc>
                <a:spcPct val="115000"/>
              </a:lnSpc>
              <a:spcAft>
                <a:spcPts val="600"/>
              </a:spcAft>
              <a:defRPr sz="1800">
                <a:solidFill>
                  <a:srgbClr val="334155"/>
                </a:solidFill>
                <a:latin typeface="Calibri"/>
              </a:defRPr>
            </a:pPr>
            <a:r>
              <a:t>•  Observability fabric: Prometheus Operator scrapes FastAPI /metrics every 15s; Grafana provides real-time telemetry</a:t>
            </a:r>
          </a:p>
        </p:txBody>
      </p:sp>
      <p:sp>
        <p:nvSpPr>
          <p:cNvPr id="6" name="Rectangle 5"/>
          <p:cNvSpPr/>
          <p:nvPr/>
        </p:nvSpPr>
        <p:spPr>
          <a:xfrm>
            <a:off x="5961888" y="1751076"/>
            <a:ext cx="5541264" cy="348386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rchitecture.jpg"/>
          <p:cNvPicPr>
            <a:picLocks noChangeAspect="1"/>
          </p:cNvPicPr>
          <p:nvPr/>
        </p:nvPicPr>
        <p:blipFill>
          <a:blip r:embed="rId2"/>
          <a:stretch>
            <a:fillRect/>
          </a:stretch>
        </p:blipFill>
        <p:spPr>
          <a:xfrm>
            <a:off x="5989320" y="1778508"/>
            <a:ext cx="5486400" cy="3429000"/>
          </a:xfrm>
          <a:prstGeom prst="rect">
            <a:avLst/>
          </a:prstGeom>
        </p:spPr>
      </p:pic>
      <p:sp>
        <p:nvSpPr>
          <p:cNvPr id="8" name="TextBox 7"/>
          <p:cNvSpPr txBox="1"/>
          <p:nvPr/>
        </p:nvSpPr>
        <p:spPr>
          <a:xfrm>
            <a:off x="5989320" y="5852160"/>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2: Component topology showing ingress routing, service isolation, and observability data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Backend Data Model, API &amp; Test Validation</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4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RESTful API design: Full CRUD endpoints supporting query parameters (status, category, q) and aggregated statistics</a:t>
            </a:r>
          </a:p>
          <a:p>
            <a:pPr>
              <a:lnSpc>
                <a:spcPct val="115000"/>
              </a:lnSpc>
              <a:spcAft>
                <a:spcPts val="600"/>
              </a:spcAft>
              <a:defRPr sz="1800">
                <a:solidFill>
                  <a:srgbClr val="334155"/>
                </a:solidFill>
                <a:latin typeface="Calibri"/>
              </a:defRPr>
            </a:pPr>
            <a:r>
              <a:t>•  Operational probes: Dedicated endpoints for liveness (/health), database readiness (/ready), and metrics (/metrics)</a:t>
            </a:r>
          </a:p>
          <a:p>
            <a:pPr>
              <a:lnSpc>
                <a:spcPct val="115000"/>
              </a:lnSpc>
              <a:spcAft>
                <a:spcPts val="600"/>
              </a:spcAft>
              <a:defRPr sz="1800">
                <a:solidFill>
                  <a:srgbClr val="334155"/>
                </a:solidFill>
                <a:latin typeface="Calibri"/>
              </a:defRPr>
            </a:pPr>
            <a:r>
              <a:t>•  Schema enforcement: Strict Pydantic v2 schemas and SQLAlchemy 2.0 ORM validate payloads and enforce constraints</a:t>
            </a:r>
          </a:p>
          <a:p>
            <a:pPr>
              <a:lnSpc>
                <a:spcPct val="115000"/>
              </a:lnSpc>
              <a:spcAft>
                <a:spcPts val="600"/>
              </a:spcAft>
              <a:defRPr sz="1800">
                <a:solidFill>
                  <a:srgbClr val="334155"/>
                </a:solidFill>
                <a:latin typeface="Calibri"/>
              </a:defRPr>
            </a:pPr>
            <a:r>
              <a:t>•  In-memory SQLite isolation: Tests execute against sqlite:///:memory: via pytest fixtures, requiring zero external database</a:t>
            </a:r>
          </a:p>
          <a:p>
            <a:pPr>
              <a:lnSpc>
                <a:spcPct val="115000"/>
              </a:lnSpc>
              <a:spcAft>
                <a:spcPts val="600"/>
              </a:spcAft>
              <a:defRPr sz="1800">
                <a:solidFill>
                  <a:srgbClr val="334155"/>
                </a:solidFill>
                <a:latin typeface="Calibri"/>
              </a:defRPr>
            </a:pPr>
            <a:r>
              <a:t>•  Verified test results: 11 unit and integration tests achieve 100% pass rate in 0.05 seconds during CI pipeline execution</a:t>
            </a:r>
          </a:p>
        </p:txBody>
      </p:sp>
      <p:sp>
        <p:nvSpPr>
          <p:cNvPr id="6" name="Rectangle 5"/>
          <p:cNvSpPr/>
          <p:nvPr/>
        </p:nvSpPr>
        <p:spPr>
          <a:xfrm>
            <a:off x="5961888" y="2438590"/>
            <a:ext cx="5541264" cy="2108835"/>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tests.jpg"/>
          <p:cNvPicPr>
            <a:picLocks noChangeAspect="1"/>
          </p:cNvPicPr>
          <p:nvPr/>
        </p:nvPicPr>
        <p:blipFill>
          <a:blip r:embed="rId2"/>
          <a:stretch>
            <a:fillRect/>
          </a:stretch>
        </p:blipFill>
        <p:spPr>
          <a:xfrm>
            <a:off x="5989320" y="2466022"/>
            <a:ext cx="5486400" cy="2053971"/>
          </a:xfrm>
          <a:prstGeom prst="rect">
            <a:avLst/>
          </a:prstGeom>
        </p:spPr>
      </p:pic>
      <p:sp>
        <p:nvSpPr>
          <p:cNvPr id="8" name="TextBox 7"/>
          <p:cNvSpPr txBox="1"/>
          <p:nvPr/>
        </p:nvSpPr>
        <p:spPr>
          <a:xfrm>
            <a:off x="5989320" y="5852160"/>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3: Pytest terminal execution demonstrating 11 passed integration tests in 0.05 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Containerization &amp; Secure Multi-Stage Builds</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5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Frontend multi-stage build: Node.js 22 build stage compiles assets; unprivileged Nginx 1.27 Alpine serves static files</a:t>
            </a:r>
          </a:p>
          <a:p>
            <a:pPr>
              <a:lnSpc>
                <a:spcPct val="115000"/>
              </a:lnSpc>
              <a:spcAft>
                <a:spcPts val="600"/>
              </a:spcAft>
              <a:defRPr sz="1800">
                <a:solidFill>
                  <a:srgbClr val="334155"/>
                </a:solidFill>
                <a:latin typeface="Calibri"/>
              </a:defRPr>
            </a:pPr>
            <a:r>
              <a:t>•  Backend container hardening: Python 3.12-slim base image running under dedicated non-root system user (UID 1000)</a:t>
            </a:r>
          </a:p>
          <a:p>
            <a:pPr>
              <a:lnSpc>
                <a:spcPct val="115000"/>
              </a:lnSpc>
              <a:spcAft>
                <a:spcPts val="600"/>
              </a:spcAft>
              <a:defRPr sz="1800">
                <a:solidFill>
                  <a:srgbClr val="334155"/>
                </a:solidFill>
                <a:latin typeface="Calibri"/>
              </a:defRPr>
            </a:pPr>
            <a:r>
              <a:t>•  Attack surface reduction: Build compilers and root privileges eliminated across all final runtime container images</a:t>
            </a:r>
          </a:p>
          <a:p>
            <a:pPr>
              <a:lnSpc>
                <a:spcPct val="115000"/>
              </a:lnSpc>
              <a:spcAft>
                <a:spcPts val="600"/>
              </a:spcAft>
              <a:defRPr sz="1800">
                <a:solidFill>
                  <a:srgbClr val="334155"/>
                </a:solidFill>
                <a:latin typeface="Calibri"/>
              </a:defRPr>
            </a:pPr>
            <a:r>
              <a:t>•  Docker Compose orchestration: Wires frontend (:3000), backend (:8000), and PostgreSQL (:5432) with automated health probes</a:t>
            </a:r>
          </a:p>
          <a:p>
            <a:pPr>
              <a:lnSpc>
                <a:spcPct val="115000"/>
              </a:lnSpc>
              <a:spcAft>
                <a:spcPts val="600"/>
              </a:spcAft>
              <a:defRPr sz="1800">
                <a:solidFill>
                  <a:srgbClr val="334155"/>
                </a:solidFill>
                <a:latin typeface="Calibri"/>
              </a:defRPr>
            </a:pPr>
            <a:r>
              <a:t>•  Health check IPv6 remediation: Pinned health check target to 127.0.0.1:8080 to prevent Alpine IPv6 resolution timeout failures</a:t>
            </a:r>
          </a:p>
        </p:txBody>
      </p:sp>
      <p:sp>
        <p:nvSpPr>
          <p:cNvPr id="6" name="Rectangle 5"/>
          <p:cNvSpPr/>
          <p:nvPr/>
        </p:nvSpPr>
        <p:spPr>
          <a:xfrm>
            <a:off x="5961888" y="1630489"/>
            <a:ext cx="5541264" cy="57950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compose.jpg"/>
          <p:cNvPicPr>
            <a:picLocks noChangeAspect="1"/>
          </p:cNvPicPr>
          <p:nvPr/>
        </p:nvPicPr>
        <p:blipFill>
          <a:blip r:embed="rId2"/>
          <a:stretch>
            <a:fillRect/>
          </a:stretch>
        </p:blipFill>
        <p:spPr>
          <a:xfrm>
            <a:off x="5989320" y="1657921"/>
            <a:ext cx="5486400" cy="524637"/>
          </a:xfrm>
          <a:prstGeom prst="rect">
            <a:avLst/>
          </a:prstGeom>
        </p:spPr>
      </p:pic>
      <p:sp>
        <p:nvSpPr>
          <p:cNvPr id="8" name="TextBox 7"/>
          <p:cNvSpPr txBox="1"/>
          <p:nvPr/>
        </p:nvSpPr>
        <p:spPr>
          <a:xfrm>
            <a:off x="5989320" y="2642616"/>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4: Docker Compose container status showing healthy runtime states across all services.</a:t>
            </a:r>
          </a:p>
        </p:txBody>
      </p:sp>
      <p:graphicFrame>
        <p:nvGraphicFramePr>
          <p:cNvPr id="9" name="Table 8"/>
          <p:cNvGraphicFramePr>
            <a:graphicFrameLocks noGrp="1"/>
          </p:cNvGraphicFramePr>
          <p:nvPr/>
        </p:nvGraphicFramePr>
        <p:xfrm>
          <a:off x="5989320" y="3291840"/>
          <a:ext cx="5486400" cy="2834640"/>
        </p:xfrm>
        <a:graphic>
          <a:graphicData uri="http://schemas.openxmlformats.org/drawingml/2006/table">
            <a:tbl>
              <a:tblPr firstRow="1" bandRow="1">
                <a:tableStyleId>{5C22544A-7EE6-4342-B048-85BDC9FD1C3A}</a:tableStyleId>
              </a:tblPr>
              <a:tblGrid>
                <a:gridCol w="1188720"/>
                <a:gridCol w="1097280"/>
                <a:gridCol w="1371600"/>
                <a:gridCol w="1828800"/>
              </a:tblGrid>
              <a:tr h="708660">
                <a:tc>
                  <a:txBody>
                    <a:bodyPr/>
                    <a:lstStyle/>
                    <a:p>
                      <a:pPr>
                        <a:defRPr sz="1200" b="1">
                          <a:solidFill>
                            <a:srgbClr val="FFFFFF"/>
                          </a:solidFill>
                          <a:latin typeface="Calibri"/>
                        </a:defRPr>
                      </a:pPr>
                      <a:r>
                        <a:t>Service</a:t>
                      </a:r>
                    </a:p>
                  </a:txBody>
                  <a:tcPr anchor="ctr">
                    <a:solidFill>
                      <a:srgbClr val="0F766E"/>
                    </a:solidFill>
                  </a:tcPr>
                </a:tc>
                <a:tc>
                  <a:txBody>
                    <a:bodyPr/>
                    <a:lstStyle/>
                    <a:p>
                      <a:pPr>
                        <a:defRPr sz="1200" b="1">
                          <a:solidFill>
                            <a:srgbClr val="FFFFFF"/>
                          </a:solidFill>
                          <a:latin typeface="Calibri"/>
                        </a:defRPr>
                      </a:pPr>
                      <a:r>
                        <a:t>Host Port</a:t>
                      </a:r>
                    </a:p>
                  </a:txBody>
                  <a:tcPr anchor="ctr">
                    <a:solidFill>
                      <a:srgbClr val="0F766E"/>
                    </a:solidFill>
                  </a:tcPr>
                </a:tc>
                <a:tc>
                  <a:txBody>
                    <a:bodyPr/>
                    <a:lstStyle/>
                    <a:p>
                      <a:pPr>
                        <a:defRPr sz="1200" b="1">
                          <a:solidFill>
                            <a:srgbClr val="FFFFFF"/>
                          </a:solidFill>
                          <a:latin typeface="Calibri"/>
                        </a:defRPr>
                      </a:pPr>
                      <a:r>
                        <a:t>Base Image / User</a:t>
                      </a:r>
                    </a:p>
                  </a:txBody>
                  <a:tcPr anchor="ctr">
                    <a:solidFill>
                      <a:srgbClr val="0F766E"/>
                    </a:solidFill>
                  </a:tcPr>
                </a:tc>
                <a:tc>
                  <a:txBody>
                    <a:bodyPr/>
                    <a:lstStyle/>
                    <a:p>
                      <a:pPr>
                        <a:defRPr sz="1200" b="1">
                          <a:solidFill>
                            <a:srgbClr val="FFFFFF"/>
                          </a:solidFill>
                          <a:latin typeface="Calibri"/>
                        </a:defRPr>
                      </a:pPr>
                      <a:r>
                        <a:t>Health Check Probe</a:t>
                      </a:r>
                    </a:p>
                  </a:txBody>
                  <a:tcPr anchor="ctr">
                    <a:solidFill>
                      <a:srgbClr val="0F766E"/>
                    </a:solidFill>
                  </a:tcPr>
                </a:tc>
              </a:tr>
              <a:tr h="708660">
                <a:tc>
                  <a:txBody>
                    <a:bodyPr/>
                    <a:lstStyle/>
                    <a:p>
                      <a:pPr>
                        <a:defRPr sz="1100">
                          <a:solidFill>
                            <a:srgbClr val="334155"/>
                          </a:solidFill>
                          <a:latin typeface="Calibri"/>
                        </a:defRPr>
                      </a:pPr>
                      <a:r>
                        <a:t>frontend</a:t>
                      </a:r>
                    </a:p>
                  </a:txBody>
                  <a:tcPr anchor="ctr">
                    <a:solidFill>
                      <a:srgbClr val="F8FAFC"/>
                    </a:solidFill>
                  </a:tcPr>
                </a:tc>
                <a:tc>
                  <a:txBody>
                    <a:bodyPr/>
                    <a:lstStyle/>
                    <a:p>
                      <a:pPr>
                        <a:defRPr sz="1100">
                          <a:solidFill>
                            <a:srgbClr val="334155"/>
                          </a:solidFill>
                          <a:latin typeface="Calibri"/>
                        </a:defRPr>
                      </a:pPr>
                      <a:r>
                        <a:t>3000 -&gt; 8080</a:t>
                      </a:r>
                    </a:p>
                  </a:txBody>
                  <a:tcPr anchor="ctr">
                    <a:solidFill>
                      <a:srgbClr val="F8FAFC"/>
                    </a:solidFill>
                  </a:tcPr>
                </a:tc>
                <a:tc>
                  <a:txBody>
                    <a:bodyPr/>
                    <a:lstStyle/>
                    <a:p>
                      <a:pPr>
                        <a:defRPr sz="1100">
                          <a:solidFill>
                            <a:srgbClr val="334155"/>
                          </a:solidFill>
                          <a:latin typeface="Calibri"/>
                        </a:defRPr>
                      </a:pPr>
                      <a:r>
                        <a:t>nginx:1.27-alpine</a:t>
                      </a:r>
                      <a:br/>
                      <a:r>
                        <a:t>(non-root 101)</a:t>
                      </a:r>
                    </a:p>
                  </a:txBody>
                  <a:tcPr anchor="ctr">
                    <a:solidFill>
                      <a:srgbClr val="F8FAFC"/>
                    </a:solidFill>
                  </a:tcPr>
                </a:tc>
                <a:tc>
                  <a:txBody>
                    <a:bodyPr/>
                    <a:lstStyle/>
                    <a:p>
                      <a:pPr>
                        <a:defRPr sz="1100">
                          <a:solidFill>
                            <a:srgbClr val="334155"/>
                          </a:solidFill>
                          <a:latin typeface="Calibri"/>
                        </a:defRPr>
                      </a:pPr>
                      <a:r>
                        <a:t>wget 127.0.0.1:8080/</a:t>
                      </a:r>
                      <a:br/>
                      <a:r>
                        <a:t>(IPv6 issue resolved)</a:t>
                      </a:r>
                    </a:p>
                  </a:txBody>
                  <a:tcPr anchor="ctr">
                    <a:solidFill>
                      <a:srgbClr val="F8FAFC"/>
                    </a:solidFill>
                  </a:tcPr>
                </a:tc>
              </a:tr>
              <a:tr h="708660">
                <a:tc>
                  <a:txBody>
                    <a:bodyPr/>
                    <a:lstStyle/>
                    <a:p>
                      <a:pPr>
                        <a:defRPr sz="1100">
                          <a:solidFill>
                            <a:srgbClr val="334155"/>
                          </a:solidFill>
                          <a:latin typeface="Calibri"/>
                        </a:defRPr>
                      </a:pPr>
                      <a:r>
                        <a:t>backend</a:t>
                      </a:r>
                    </a:p>
                  </a:txBody>
                  <a:tcPr anchor="ctr">
                    <a:solidFill>
                      <a:srgbClr val="FFFFFF"/>
                    </a:solidFill>
                  </a:tcPr>
                </a:tc>
                <a:tc>
                  <a:txBody>
                    <a:bodyPr/>
                    <a:lstStyle/>
                    <a:p>
                      <a:pPr>
                        <a:defRPr sz="1100">
                          <a:solidFill>
                            <a:srgbClr val="334155"/>
                          </a:solidFill>
                          <a:latin typeface="Calibri"/>
                        </a:defRPr>
                      </a:pPr>
                      <a:r>
                        <a:t>8000 -&gt; 8000</a:t>
                      </a:r>
                    </a:p>
                  </a:txBody>
                  <a:tcPr anchor="ctr">
                    <a:solidFill>
                      <a:srgbClr val="FFFFFF"/>
                    </a:solidFill>
                  </a:tcPr>
                </a:tc>
                <a:tc>
                  <a:txBody>
                    <a:bodyPr/>
                    <a:lstStyle/>
                    <a:p>
                      <a:pPr>
                        <a:defRPr sz="1100">
                          <a:solidFill>
                            <a:srgbClr val="334155"/>
                          </a:solidFill>
                          <a:latin typeface="Calibri"/>
                        </a:defRPr>
                      </a:pPr>
                      <a:r>
                        <a:t>python:3.12-slim</a:t>
                      </a:r>
                      <a:br/>
                      <a:r>
                        <a:t>(appuser 1000)</a:t>
                      </a:r>
                    </a:p>
                  </a:txBody>
                  <a:tcPr anchor="ctr">
                    <a:solidFill>
                      <a:srgbClr val="FFFFFF"/>
                    </a:solidFill>
                  </a:tcPr>
                </a:tc>
                <a:tc>
                  <a:txBody>
                    <a:bodyPr/>
                    <a:lstStyle/>
                    <a:p>
                      <a:pPr>
                        <a:defRPr sz="1100">
                          <a:solidFill>
                            <a:srgbClr val="334155"/>
                          </a:solidFill>
                          <a:latin typeface="Calibri"/>
                        </a:defRPr>
                      </a:pPr>
                      <a:r>
                        <a:t>curl -f 127.0.0.1:8000/health</a:t>
                      </a:r>
                      <a:br/>
                      <a:r>
                        <a:t>(interval 10s)</a:t>
                      </a:r>
                    </a:p>
                  </a:txBody>
                  <a:tcPr anchor="ctr">
                    <a:solidFill>
                      <a:srgbClr val="FFFFFF"/>
                    </a:solidFill>
                  </a:tcPr>
                </a:tc>
              </a:tr>
              <a:tr h="708660">
                <a:tc>
                  <a:txBody>
                    <a:bodyPr/>
                    <a:lstStyle/>
                    <a:p>
                      <a:pPr>
                        <a:defRPr sz="1100">
                          <a:solidFill>
                            <a:srgbClr val="334155"/>
                          </a:solidFill>
                          <a:latin typeface="Calibri"/>
                        </a:defRPr>
                      </a:pPr>
                      <a:r>
                        <a:t>postgres</a:t>
                      </a:r>
                    </a:p>
                  </a:txBody>
                  <a:tcPr anchor="ctr">
                    <a:solidFill>
                      <a:srgbClr val="F8FAFC"/>
                    </a:solidFill>
                  </a:tcPr>
                </a:tc>
                <a:tc>
                  <a:txBody>
                    <a:bodyPr/>
                    <a:lstStyle/>
                    <a:p>
                      <a:pPr>
                        <a:defRPr sz="1100">
                          <a:solidFill>
                            <a:srgbClr val="334155"/>
                          </a:solidFill>
                          <a:latin typeface="Calibri"/>
                        </a:defRPr>
                      </a:pPr>
                      <a:r>
                        <a:t>5432 -&gt; 5432</a:t>
                      </a:r>
                    </a:p>
                  </a:txBody>
                  <a:tcPr anchor="ctr">
                    <a:solidFill>
                      <a:srgbClr val="F8FAFC"/>
                    </a:solidFill>
                  </a:tcPr>
                </a:tc>
                <a:tc>
                  <a:txBody>
                    <a:bodyPr/>
                    <a:lstStyle/>
                    <a:p>
                      <a:pPr>
                        <a:defRPr sz="1100">
                          <a:solidFill>
                            <a:srgbClr val="334155"/>
                          </a:solidFill>
                          <a:latin typeface="Calibri"/>
                        </a:defRPr>
                      </a:pPr>
                      <a:r>
                        <a:t>postgres:16-alpine</a:t>
                      </a:r>
                      <a:br/>
                      <a:r>
                        <a:t>(postgres)</a:t>
                      </a:r>
                    </a:p>
                  </a:txBody>
                  <a:tcPr anchor="ctr">
                    <a:solidFill>
                      <a:srgbClr val="F8FAFC"/>
                    </a:solidFill>
                  </a:tcPr>
                </a:tc>
                <a:tc>
                  <a:txBody>
                    <a:bodyPr/>
                    <a:lstStyle/>
                    <a:p>
                      <a:pPr>
                        <a:defRPr sz="1100">
                          <a:solidFill>
                            <a:srgbClr val="334155"/>
                          </a:solidFill>
                          <a:latin typeface="Calibri"/>
                        </a:defRPr>
                      </a:pPr>
                      <a:r>
                        <a:t>pg_isready -U postgres</a:t>
                      </a:r>
                      <a:br/>
                      <a:r>
                        <a:t>(interval 5s)</a:t>
                      </a:r>
                    </a:p>
                  </a:txBody>
                  <a:tcPr anchor="ctr">
                    <a:solidFill>
                      <a:srgbClr val="F8FA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Automated CI/CD Pipeline (GitHub Actions)</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6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Continuous integration trigger: Automated workflow executes on every push and pull request targeting the main branch</a:t>
            </a:r>
          </a:p>
          <a:p>
            <a:pPr>
              <a:lnSpc>
                <a:spcPct val="115000"/>
              </a:lnSpc>
              <a:spcAft>
                <a:spcPts val="600"/>
              </a:spcAft>
              <a:defRPr sz="1800">
                <a:solidFill>
                  <a:srgbClr val="334155"/>
                </a:solidFill>
                <a:latin typeface="Calibri"/>
              </a:defRPr>
            </a:pPr>
            <a:r>
              <a:t>•  Fail-fast sequential gates: Pytest unit tests and frontend asset builds must exit 0 before container image builds begin</a:t>
            </a:r>
          </a:p>
          <a:p>
            <a:pPr>
              <a:lnSpc>
                <a:spcPct val="115000"/>
              </a:lnSpc>
              <a:spcAft>
                <a:spcPts val="600"/>
              </a:spcAft>
              <a:defRPr sz="1800">
                <a:solidFill>
                  <a:srgbClr val="334155"/>
                </a:solidFill>
                <a:latin typeface="Calibri"/>
              </a:defRPr>
            </a:pPr>
            <a:r>
              <a:t>•  Immutable artifact tagging: Images tagged strictly with git commit SHA (${{ github.sha }}), prohibiting mutable latest tags</a:t>
            </a:r>
          </a:p>
          <a:p>
            <a:pPr>
              <a:lnSpc>
                <a:spcPct val="115000"/>
              </a:lnSpc>
              <a:spcAft>
                <a:spcPts val="600"/>
              </a:spcAft>
              <a:defRPr sz="1800">
                <a:solidFill>
                  <a:srgbClr val="334155"/>
                </a:solidFill>
                <a:latin typeface="Calibri"/>
              </a:defRPr>
            </a:pPr>
            <a:r>
              <a:t>•  Package registry publication: Dual container images pushed to GitHub Container Registry (ghcr.io/kavya100206/campusfind-*)</a:t>
            </a:r>
          </a:p>
          <a:p>
            <a:pPr>
              <a:lnSpc>
                <a:spcPct val="115000"/>
              </a:lnSpc>
              <a:spcAft>
                <a:spcPts val="600"/>
              </a:spcAft>
              <a:defRPr sz="1800">
                <a:solidFill>
                  <a:srgbClr val="334155"/>
                </a:solidFill>
                <a:latin typeface="Calibri"/>
              </a:defRPr>
            </a:pPr>
            <a:r>
              <a:t>•  Local inventory note: Evidence 5 (Actions run) and Evidence 6 (GHCR package) were verified in CI and not stored locally</a:t>
            </a:r>
          </a:p>
        </p:txBody>
      </p:sp>
      <p:graphicFrame>
        <p:nvGraphicFramePr>
          <p:cNvPr id="6" name="Table 5"/>
          <p:cNvGraphicFramePr>
            <a:graphicFrameLocks noGrp="1"/>
          </p:cNvGraphicFramePr>
          <p:nvPr/>
        </p:nvGraphicFramePr>
        <p:xfrm>
          <a:off x="5989320" y="1234440"/>
          <a:ext cx="5486400" cy="4389120"/>
        </p:xfrm>
        <a:graphic>
          <a:graphicData uri="http://schemas.openxmlformats.org/drawingml/2006/table">
            <a:tbl>
              <a:tblPr firstRow="1" bandRow="1">
                <a:tableStyleId>{5C22544A-7EE6-4342-B048-85BDC9FD1C3A}</a:tableStyleId>
              </a:tblPr>
              <a:tblGrid>
                <a:gridCol w="1645920"/>
                <a:gridCol w="2103120"/>
                <a:gridCol w="1737360"/>
              </a:tblGrid>
              <a:tr h="877824">
                <a:tc>
                  <a:txBody>
                    <a:bodyPr/>
                    <a:lstStyle/>
                    <a:p>
                      <a:pPr>
                        <a:defRPr sz="1300" b="1">
                          <a:solidFill>
                            <a:srgbClr val="FFFFFF"/>
                          </a:solidFill>
                          <a:latin typeface="Calibri"/>
                        </a:defRPr>
                      </a:pPr>
                      <a:r>
                        <a:t>Pipeline Stage</a:t>
                      </a:r>
                    </a:p>
                  </a:txBody>
                  <a:tcPr anchor="ctr">
                    <a:solidFill>
                      <a:srgbClr val="0F766E"/>
                    </a:solidFill>
                  </a:tcPr>
                </a:tc>
                <a:tc>
                  <a:txBody>
                    <a:bodyPr/>
                    <a:lstStyle/>
                    <a:p>
                      <a:pPr>
                        <a:defRPr sz="1300" b="1">
                          <a:solidFill>
                            <a:srgbClr val="FFFFFF"/>
                          </a:solidFill>
                          <a:latin typeface="Calibri"/>
                        </a:defRPr>
                      </a:pPr>
                      <a:r>
                        <a:t>Execution Environment</a:t>
                      </a:r>
                    </a:p>
                  </a:txBody>
                  <a:tcPr anchor="ctr">
                    <a:solidFill>
                      <a:srgbClr val="0F766E"/>
                    </a:solidFill>
                  </a:tcPr>
                </a:tc>
                <a:tc>
                  <a:txBody>
                    <a:bodyPr/>
                    <a:lstStyle/>
                    <a:p>
                      <a:pPr>
                        <a:defRPr sz="1300" b="1">
                          <a:solidFill>
                            <a:srgbClr val="FFFFFF"/>
                          </a:solidFill>
                          <a:latin typeface="Calibri"/>
                        </a:defRPr>
                      </a:pPr>
                      <a:r>
                        <a:t>Pass / Fail Criteria</a:t>
                      </a:r>
                    </a:p>
                  </a:txBody>
                  <a:tcPr anchor="ctr">
                    <a:solidFill>
                      <a:srgbClr val="0F766E"/>
                    </a:solidFill>
                  </a:tcPr>
                </a:tc>
              </a:tr>
              <a:tr h="877824">
                <a:tc>
                  <a:txBody>
                    <a:bodyPr/>
                    <a:lstStyle/>
                    <a:p>
                      <a:pPr>
                        <a:defRPr sz="1200">
                          <a:solidFill>
                            <a:srgbClr val="334155"/>
                          </a:solidFill>
                          <a:latin typeface="Calibri"/>
                        </a:defRPr>
                      </a:pPr>
                      <a:r>
                        <a:t>1. Test &amp; Build</a:t>
                      </a:r>
                    </a:p>
                  </a:txBody>
                  <a:tcPr anchor="ctr">
                    <a:solidFill>
                      <a:srgbClr val="F8FAFC"/>
                    </a:solidFill>
                  </a:tcPr>
                </a:tc>
                <a:tc>
                  <a:txBody>
                    <a:bodyPr/>
                    <a:lstStyle/>
                    <a:p>
                      <a:pPr>
                        <a:defRPr sz="1200">
                          <a:solidFill>
                            <a:srgbClr val="334155"/>
                          </a:solidFill>
                          <a:latin typeface="Calibri"/>
                        </a:defRPr>
                      </a:pPr>
                      <a:r>
                        <a:t>Ubuntu 22.04</a:t>
                      </a:r>
                      <a:br/>
                      <a:r>
                        <a:t>Python 3.12 + Node 22</a:t>
                      </a:r>
                    </a:p>
                  </a:txBody>
                  <a:tcPr anchor="ctr">
                    <a:solidFill>
                      <a:srgbClr val="F8FAFC"/>
                    </a:solidFill>
                  </a:tcPr>
                </a:tc>
                <a:tc>
                  <a:txBody>
                    <a:bodyPr/>
                    <a:lstStyle/>
                    <a:p>
                      <a:pPr>
                        <a:defRPr sz="1200">
                          <a:solidFill>
                            <a:srgbClr val="334155"/>
                          </a:solidFill>
                          <a:latin typeface="Calibri"/>
                        </a:defRPr>
                      </a:pPr>
                      <a:r>
                        <a:t>11 pytest tests pass</a:t>
                      </a:r>
                      <a:br/>
                      <a:r>
                        <a:t>Vite build exits 0</a:t>
                      </a:r>
                    </a:p>
                  </a:txBody>
                  <a:tcPr anchor="ctr">
                    <a:solidFill>
                      <a:srgbClr val="F8FAFC"/>
                    </a:solidFill>
                  </a:tcPr>
                </a:tc>
              </a:tr>
              <a:tr h="877824">
                <a:tc>
                  <a:txBody>
                    <a:bodyPr/>
                    <a:lstStyle/>
                    <a:p>
                      <a:pPr>
                        <a:defRPr sz="1200">
                          <a:solidFill>
                            <a:srgbClr val="334155"/>
                          </a:solidFill>
                          <a:latin typeface="Calibri"/>
                        </a:defRPr>
                      </a:pPr>
                      <a:r>
                        <a:t>2. Container Build</a:t>
                      </a:r>
                    </a:p>
                  </a:txBody>
                  <a:tcPr anchor="ctr">
                    <a:solidFill>
                      <a:srgbClr val="FFFFFF"/>
                    </a:solidFill>
                  </a:tcPr>
                </a:tc>
                <a:tc>
                  <a:txBody>
                    <a:bodyPr/>
                    <a:lstStyle/>
                    <a:p>
                      <a:pPr>
                        <a:defRPr sz="1200">
                          <a:solidFill>
                            <a:srgbClr val="334155"/>
                          </a:solidFill>
                          <a:latin typeface="Calibri"/>
                        </a:defRPr>
                      </a:pPr>
                      <a:r>
                        <a:t>Docker Buildx engine</a:t>
                      </a:r>
                      <a:br/>
                      <a:r>
                        <a:t>Multi-stage Dockerfiles</a:t>
                      </a:r>
                    </a:p>
                  </a:txBody>
                  <a:tcPr anchor="ctr">
                    <a:solidFill>
                      <a:srgbClr val="FFFFFF"/>
                    </a:solidFill>
                  </a:tcPr>
                </a:tc>
                <a:tc>
                  <a:txBody>
                    <a:bodyPr/>
                    <a:lstStyle/>
                    <a:p>
                      <a:pPr>
                        <a:defRPr sz="1200">
                          <a:solidFill>
                            <a:srgbClr val="334155"/>
                          </a:solidFill>
                          <a:latin typeface="Calibri"/>
                        </a:defRPr>
                      </a:pPr>
                      <a:r>
                        <a:t>Dual image build success</a:t>
                      </a:r>
                      <a:br/>
                      <a:r>
                        <a:t>Tagged with git SHA</a:t>
                      </a:r>
                    </a:p>
                  </a:txBody>
                  <a:tcPr anchor="ctr">
                    <a:solidFill>
                      <a:srgbClr val="FFFFFF"/>
                    </a:solidFill>
                  </a:tcPr>
                </a:tc>
              </a:tr>
              <a:tr h="877824">
                <a:tc>
                  <a:txBody>
                    <a:bodyPr/>
                    <a:lstStyle/>
                    <a:p>
                      <a:pPr>
                        <a:defRPr sz="1200">
                          <a:solidFill>
                            <a:srgbClr val="334155"/>
                          </a:solidFill>
                          <a:latin typeface="Calibri"/>
                        </a:defRPr>
                      </a:pPr>
                      <a:r>
                        <a:t>3. Security Scan</a:t>
                      </a:r>
                    </a:p>
                  </a:txBody>
                  <a:tcPr anchor="ctr">
                    <a:solidFill>
                      <a:srgbClr val="F8FAFC"/>
                    </a:solidFill>
                  </a:tcPr>
                </a:tc>
                <a:tc>
                  <a:txBody>
                    <a:bodyPr/>
                    <a:lstStyle/>
                    <a:p>
                      <a:pPr>
                        <a:defRPr sz="1200">
                          <a:solidFill>
                            <a:srgbClr val="334155"/>
                          </a:solidFill>
                          <a:latin typeface="Calibri"/>
                        </a:defRPr>
                      </a:pPr>
                      <a:r>
                        <a:t>Aqua Trivy Scanner</a:t>
                      </a:r>
                      <a:br/>
                      <a:r>
                        <a:t>v0.36.0 Action</a:t>
                      </a:r>
                    </a:p>
                  </a:txBody>
                  <a:tcPr anchor="ctr">
                    <a:solidFill>
                      <a:srgbClr val="F8FAFC"/>
                    </a:solidFill>
                  </a:tcPr>
                </a:tc>
                <a:tc>
                  <a:txBody>
                    <a:bodyPr/>
                    <a:lstStyle/>
                    <a:p>
                      <a:pPr>
                        <a:defRPr sz="1200">
                          <a:solidFill>
                            <a:srgbClr val="334155"/>
                          </a:solidFill>
                          <a:latin typeface="Calibri"/>
                        </a:defRPr>
                      </a:pPr>
                      <a:r>
                        <a:t>Zero fixable HIGH / CRITICAL CVEs (exit 1)</a:t>
                      </a:r>
                    </a:p>
                  </a:txBody>
                  <a:tcPr anchor="ctr">
                    <a:solidFill>
                      <a:srgbClr val="F8FAFC"/>
                    </a:solidFill>
                  </a:tcPr>
                </a:tc>
              </a:tr>
              <a:tr h="877824">
                <a:tc>
                  <a:txBody>
                    <a:bodyPr/>
                    <a:lstStyle/>
                    <a:p>
                      <a:pPr>
                        <a:defRPr sz="1200">
                          <a:solidFill>
                            <a:srgbClr val="334155"/>
                          </a:solidFill>
                          <a:latin typeface="Calibri"/>
                        </a:defRPr>
                      </a:pPr>
                      <a:r>
                        <a:t>4. Registry Push</a:t>
                      </a:r>
                    </a:p>
                  </a:txBody>
                  <a:tcPr anchor="ctr">
                    <a:solidFill>
                      <a:srgbClr val="FFFFFF"/>
                    </a:solidFill>
                  </a:tcPr>
                </a:tc>
                <a:tc>
                  <a:txBody>
                    <a:bodyPr/>
                    <a:lstStyle/>
                    <a:p>
                      <a:pPr>
                        <a:defRPr sz="1200">
                          <a:solidFill>
                            <a:srgbClr val="334155"/>
                          </a:solidFill>
                          <a:latin typeface="Calibri"/>
                        </a:defRPr>
                      </a:pPr>
                      <a:r>
                        <a:t>GitHub Container Registry</a:t>
                      </a:r>
                      <a:br/>
                      <a:r>
                        <a:t>ghcr.io OCI packages</a:t>
                      </a:r>
                    </a:p>
                  </a:txBody>
                  <a:tcPr anchor="ctr">
                    <a:solidFill>
                      <a:srgbClr val="FFFFFF"/>
                    </a:solidFill>
                  </a:tcPr>
                </a:tc>
                <a:tc>
                  <a:txBody>
                    <a:bodyPr/>
                    <a:lstStyle/>
                    <a:p>
                      <a:pPr>
                        <a:defRPr sz="1200">
                          <a:solidFill>
                            <a:srgbClr val="334155"/>
                          </a:solidFill>
                          <a:latin typeface="Calibri"/>
                        </a:defRPr>
                      </a:pPr>
                      <a:r>
                        <a:t>Immutable SHA tags pushed</a:t>
                      </a:r>
                      <a:br/>
                      <a:r>
                        <a:t>Public read visibility</a:t>
                      </a:r>
                    </a:p>
                  </a:txBody>
                  <a:tcPr anchor="ctr">
                    <a:solidFill>
                      <a:srgbClr val="FFFFFF"/>
                    </a:solidFill>
                  </a:tcPr>
                </a:tc>
              </a:tr>
            </a:tbl>
          </a:graphicData>
        </a:graphic>
      </p:graphicFrame>
      <p:sp>
        <p:nvSpPr>
          <p:cNvPr id="7" name="TextBox 6"/>
          <p:cNvSpPr txBox="1"/>
          <p:nvPr/>
        </p:nvSpPr>
        <p:spPr>
          <a:xfrm>
            <a:off x="5989320" y="5696712"/>
            <a:ext cx="5486400" cy="411480"/>
          </a:xfrm>
          <a:prstGeom prst="rect">
            <a:avLst/>
          </a:prstGeom>
          <a:noFill/>
        </p:spPr>
        <p:txBody>
          <a:bodyPr wrap="none">
            <a:spAutoFit/>
          </a:bodyPr>
          <a:lstStyle/>
          <a:p>
            <a:pPr algn="ctr">
              <a:defRPr sz="1200">
                <a:solidFill>
                  <a:srgbClr val="64748B"/>
                </a:solidFill>
                <a:latin typeface="Calibri"/>
              </a:defRPr>
            </a:pPr>
            <a:r>
              <a:t>Table 1: GitHub Actions CI/CD stages, execution environments, and validation gates.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DevSecOps: Automated Container Security Scanning</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7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Vulnerability policy: Aqua Trivy scans both images, failing the build on fixable HIGH or CRITICAL CVEs (exit-code 1)</a:t>
            </a:r>
          </a:p>
          <a:p>
            <a:pPr>
              <a:lnSpc>
                <a:spcPct val="115000"/>
              </a:lnSpc>
              <a:spcAft>
                <a:spcPts val="600"/>
              </a:spcAft>
              <a:defRPr sz="1800">
                <a:solidFill>
                  <a:srgbClr val="334155"/>
                </a:solidFill>
                <a:latin typeface="Calibri"/>
              </a:defRPr>
            </a:pPr>
            <a:r>
              <a:t>•  Pipeline gate enforcement: CI Run #8 failed when Trivy detected 3 HIGH CVEs in Starlette 0.41.3 bundled with FastAPI</a:t>
            </a:r>
          </a:p>
          <a:p>
            <a:pPr>
              <a:lnSpc>
                <a:spcPct val="115000"/>
              </a:lnSpc>
              <a:spcAft>
                <a:spcPts val="600"/>
              </a:spcAft>
              <a:defRPr sz="1800">
                <a:solidFill>
                  <a:srgbClr val="334155"/>
                </a:solidFill>
                <a:latin typeface="Calibri"/>
              </a:defRPr>
            </a:pPr>
            <a:r>
              <a:t>•  Starlette vulnerability scope: CVE-2025-62727 (Range header DoS), CVE-2026-48818 (SSRF/UNC), CVE-2026-54283 (form memory bypass)</a:t>
            </a:r>
          </a:p>
          <a:p>
            <a:pPr>
              <a:lnSpc>
                <a:spcPct val="115000"/>
              </a:lnSpc>
              <a:spcAft>
                <a:spcPts val="600"/>
              </a:spcAft>
              <a:defRPr sz="1800">
                <a:solidFill>
                  <a:srgbClr val="334155"/>
                </a:solidFill>
                <a:latin typeface="Calibri"/>
              </a:defRPr>
            </a:pPr>
            <a:r>
              <a:t>•  Targeted library remediation: Upgraded to fastapi&gt;=0.115.8 and prometheus-fastapi-instrumentator&gt;=8.0.0, resolving Starlette to 1.8.0</a:t>
            </a:r>
          </a:p>
          <a:p>
            <a:pPr>
              <a:lnSpc>
                <a:spcPct val="115000"/>
              </a:lnSpc>
              <a:spcAft>
                <a:spcPts val="600"/>
              </a:spcAft>
              <a:defRPr sz="1800">
                <a:solidFill>
                  <a:srgbClr val="334155"/>
                </a:solidFill>
                <a:latin typeface="Calibri"/>
              </a:defRPr>
            </a:pPr>
            <a:r>
              <a:t>•  Base OS hardening &amp; gate pass: Added apk upgrade in frontend; verified clean exit in CI Run #10 (Evidence 7 not stored locally)</a:t>
            </a:r>
          </a:p>
        </p:txBody>
      </p:sp>
      <p:graphicFrame>
        <p:nvGraphicFramePr>
          <p:cNvPr id="6" name="Table 5"/>
          <p:cNvGraphicFramePr>
            <a:graphicFrameLocks noGrp="1"/>
          </p:cNvGraphicFramePr>
          <p:nvPr/>
        </p:nvGraphicFramePr>
        <p:xfrm>
          <a:off x="5989320" y="1234440"/>
          <a:ext cx="5486400" cy="4389120"/>
        </p:xfrm>
        <a:graphic>
          <a:graphicData uri="http://schemas.openxmlformats.org/drawingml/2006/table">
            <a:tbl>
              <a:tblPr firstRow="1" bandRow="1">
                <a:tableStyleId>{5C22544A-7EE6-4342-B048-85BDC9FD1C3A}</a:tableStyleId>
              </a:tblPr>
              <a:tblGrid>
                <a:gridCol w="1737360"/>
                <a:gridCol w="1463040"/>
                <a:gridCol w="2286000"/>
              </a:tblGrid>
              <a:tr h="877824">
                <a:tc>
                  <a:txBody>
                    <a:bodyPr/>
                    <a:lstStyle/>
                    <a:p>
                      <a:pPr>
                        <a:defRPr sz="1300" b="1">
                          <a:solidFill>
                            <a:srgbClr val="FFFFFF"/>
                          </a:solidFill>
                          <a:latin typeface="Calibri"/>
                        </a:defRPr>
                      </a:pPr>
                      <a:r>
                        <a:t>Vulnerability ID</a:t>
                      </a:r>
                    </a:p>
                  </a:txBody>
                  <a:tcPr anchor="ctr">
                    <a:solidFill>
                      <a:srgbClr val="0F766E"/>
                    </a:solidFill>
                  </a:tcPr>
                </a:tc>
                <a:tc>
                  <a:txBody>
                    <a:bodyPr/>
                    <a:lstStyle/>
                    <a:p>
                      <a:pPr>
                        <a:defRPr sz="1300" b="1">
                          <a:solidFill>
                            <a:srgbClr val="FFFFFF"/>
                          </a:solidFill>
                          <a:latin typeface="Calibri"/>
                        </a:defRPr>
                      </a:pPr>
                      <a:r>
                        <a:t>Severity &amp; Package</a:t>
                      </a:r>
                    </a:p>
                  </a:txBody>
                  <a:tcPr anchor="ctr">
                    <a:solidFill>
                      <a:srgbClr val="0F766E"/>
                    </a:solidFill>
                  </a:tcPr>
                </a:tc>
                <a:tc>
                  <a:txBody>
                    <a:bodyPr/>
                    <a:lstStyle/>
                    <a:p>
                      <a:pPr>
                        <a:defRPr sz="1300" b="1">
                          <a:solidFill>
                            <a:srgbClr val="FFFFFF"/>
                          </a:solidFill>
                          <a:latin typeface="Calibri"/>
                        </a:defRPr>
                      </a:pPr>
                      <a:r>
                        <a:t>Remediation &amp; Patch Version</a:t>
                      </a:r>
                    </a:p>
                  </a:txBody>
                  <a:tcPr anchor="ctr">
                    <a:solidFill>
                      <a:srgbClr val="0F766E"/>
                    </a:solidFill>
                  </a:tcPr>
                </a:tc>
              </a:tr>
              <a:tr h="877824">
                <a:tc>
                  <a:txBody>
                    <a:bodyPr/>
                    <a:lstStyle/>
                    <a:p>
                      <a:pPr>
                        <a:defRPr sz="1200">
                          <a:solidFill>
                            <a:srgbClr val="334155"/>
                          </a:solidFill>
                          <a:latin typeface="Calibri"/>
                        </a:defRPr>
                      </a:pPr>
                      <a:r>
                        <a:t>CVE-2025-62727</a:t>
                      </a:r>
                    </a:p>
                  </a:txBody>
                  <a:tcPr anchor="ctr">
                    <a:solidFill>
                      <a:srgbClr val="F8FAFC"/>
                    </a:solidFill>
                  </a:tcPr>
                </a:tc>
                <a:tc>
                  <a:txBody>
                    <a:bodyPr/>
                    <a:lstStyle/>
                    <a:p>
                      <a:pPr>
                        <a:defRPr sz="1200">
                          <a:solidFill>
                            <a:srgbClr val="334155"/>
                          </a:solidFill>
                          <a:latin typeface="Calibri"/>
                        </a:defRPr>
                      </a:pPr>
                      <a:r>
                        <a:t>HIGH</a:t>
                      </a:r>
                      <a:br/>
                      <a:r>
                        <a:t>Starlette 0.41.3</a:t>
                      </a:r>
                    </a:p>
                  </a:txBody>
                  <a:tcPr anchor="ctr">
                    <a:solidFill>
                      <a:srgbClr val="F8FAFC"/>
                    </a:solidFill>
                  </a:tcPr>
                </a:tc>
                <a:tc>
                  <a:txBody>
                    <a:bodyPr/>
                    <a:lstStyle/>
                    <a:p>
                      <a:pPr>
                        <a:defRPr sz="1200">
                          <a:solidFill>
                            <a:srgbClr val="334155"/>
                          </a:solidFill>
                          <a:latin typeface="Calibri"/>
                        </a:defRPr>
                      </a:pPr>
                      <a:r>
                        <a:t>DoS via Range header merging</a:t>
                      </a:r>
                      <a:br/>
                      <a:r>
                        <a:t>Patched in Starlette &gt;=0.49.1</a:t>
                      </a:r>
                    </a:p>
                  </a:txBody>
                  <a:tcPr anchor="ctr">
                    <a:solidFill>
                      <a:srgbClr val="F8FAFC"/>
                    </a:solidFill>
                  </a:tcPr>
                </a:tc>
              </a:tr>
              <a:tr h="877824">
                <a:tc>
                  <a:txBody>
                    <a:bodyPr/>
                    <a:lstStyle/>
                    <a:p>
                      <a:pPr>
                        <a:defRPr sz="1200">
                          <a:solidFill>
                            <a:srgbClr val="334155"/>
                          </a:solidFill>
                          <a:latin typeface="Calibri"/>
                        </a:defRPr>
                      </a:pPr>
                      <a:r>
                        <a:t>CVE-2026-48818</a:t>
                      </a:r>
                    </a:p>
                  </a:txBody>
                  <a:tcPr anchor="ctr">
                    <a:solidFill>
                      <a:srgbClr val="FFFFFF"/>
                    </a:solidFill>
                  </a:tcPr>
                </a:tc>
                <a:tc>
                  <a:txBody>
                    <a:bodyPr/>
                    <a:lstStyle/>
                    <a:p>
                      <a:pPr>
                        <a:defRPr sz="1200">
                          <a:solidFill>
                            <a:srgbClr val="334155"/>
                          </a:solidFill>
                          <a:latin typeface="Calibri"/>
                        </a:defRPr>
                      </a:pPr>
                      <a:r>
                        <a:t>HIGH</a:t>
                      </a:r>
                      <a:br/>
                      <a:r>
                        <a:t>Starlette 0.41.3</a:t>
                      </a:r>
                    </a:p>
                  </a:txBody>
                  <a:tcPr anchor="ctr">
                    <a:solidFill>
                      <a:srgbClr val="FFFFFF"/>
                    </a:solidFill>
                  </a:tcPr>
                </a:tc>
                <a:tc>
                  <a:txBody>
                    <a:bodyPr/>
                    <a:lstStyle/>
                    <a:p>
                      <a:pPr>
                        <a:defRPr sz="1200">
                          <a:solidFill>
                            <a:srgbClr val="334155"/>
                          </a:solidFill>
                          <a:latin typeface="Calibri"/>
                        </a:defRPr>
                      </a:pPr>
                      <a:r>
                        <a:t>SSRF / UNC path vulnerability</a:t>
                      </a:r>
                      <a:br/>
                      <a:r>
                        <a:t>Patched in Starlette &gt;=1.1.0</a:t>
                      </a:r>
                    </a:p>
                  </a:txBody>
                  <a:tcPr anchor="ctr">
                    <a:solidFill>
                      <a:srgbClr val="FFFFFF"/>
                    </a:solidFill>
                  </a:tcPr>
                </a:tc>
              </a:tr>
              <a:tr h="877824">
                <a:tc>
                  <a:txBody>
                    <a:bodyPr/>
                    <a:lstStyle/>
                    <a:p>
                      <a:pPr>
                        <a:defRPr sz="1200">
                          <a:solidFill>
                            <a:srgbClr val="334155"/>
                          </a:solidFill>
                          <a:latin typeface="Calibri"/>
                        </a:defRPr>
                      </a:pPr>
                      <a:r>
                        <a:t>CVE-2026-54283</a:t>
                      </a:r>
                    </a:p>
                  </a:txBody>
                  <a:tcPr anchor="ctr">
                    <a:solidFill>
                      <a:srgbClr val="F8FAFC"/>
                    </a:solidFill>
                  </a:tcPr>
                </a:tc>
                <a:tc>
                  <a:txBody>
                    <a:bodyPr/>
                    <a:lstStyle/>
                    <a:p>
                      <a:pPr>
                        <a:defRPr sz="1200">
                          <a:solidFill>
                            <a:srgbClr val="334155"/>
                          </a:solidFill>
                          <a:latin typeface="Calibri"/>
                        </a:defRPr>
                      </a:pPr>
                      <a:r>
                        <a:t>HIGH</a:t>
                      </a:r>
                      <a:br/>
                      <a:r>
                        <a:t>Starlette 0.41.3</a:t>
                      </a:r>
                    </a:p>
                  </a:txBody>
                  <a:tcPr anchor="ctr">
                    <a:solidFill>
                      <a:srgbClr val="F8FAFC"/>
                    </a:solidFill>
                  </a:tcPr>
                </a:tc>
                <a:tc>
                  <a:txBody>
                    <a:bodyPr/>
                    <a:lstStyle/>
                    <a:p>
                      <a:pPr>
                        <a:defRPr sz="1200">
                          <a:solidFill>
                            <a:srgbClr val="334155"/>
                          </a:solidFill>
                          <a:latin typeface="Calibri"/>
                        </a:defRPr>
                      </a:pPr>
                      <a:r>
                        <a:t>request.form() memory limit bypass</a:t>
                      </a:r>
                      <a:br/>
                      <a:r>
                        <a:t>Patched in Starlette &gt;=1.3.1</a:t>
                      </a:r>
                    </a:p>
                  </a:txBody>
                  <a:tcPr anchor="ctr">
                    <a:solidFill>
                      <a:srgbClr val="F8FAFC"/>
                    </a:solidFill>
                  </a:tcPr>
                </a:tc>
              </a:tr>
              <a:tr h="877824">
                <a:tc>
                  <a:txBody>
                    <a:bodyPr/>
                    <a:lstStyle/>
                    <a:p>
                      <a:pPr>
                        <a:defRPr sz="1200">
                          <a:solidFill>
                            <a:srgbClr val="334155"/>
                          </a:solidFill>
                          <a:latin typeface="Calibri"/>
                        </a:defRPr>
                      </a:pPr>
                      <a:r>
                        <a:t>Alpine Base Packages</a:t>
                      </a:r>
                    </a:p>
                  </a:txBody>
                  <a:tcPr anchor="ctr">
                    <a:solidFill>
                      <a:srgbClr val="FFFFFF"/>
                    </a:solidFill>
                  </a:tcPr>
                </a:tc>
                <a:tc>
                  <a:txBody>
                    <a:bodyPr/>
                    <a:lstStyle/>
                    <a:p>
                      <a:pPr>
                        <a:defRPr sz="1200">
                          <a:solidFill>
                            <a:srgbClr val="334155"/>
                          </a:solidFill>
                          <a:latin typeface="Calibri"/>
                        </a:defRPr>
                      </a:pPr>
                      <a:r>
                        <a:t>HIGH</a:t>
                      </a:r>
                      <a:br/>
                      <a:r>
                        <a:t>libxml2, musl, tiff</a:t>
                      </a:r>
                    </a:p>
                  </a:txBody>
                  <a:tcPr anchor="ctr">
                    <a:solidFill>
                      <a:srgbClr val="FFFFFF"/>
                    </a:solidFill>
                  </a:tcPr>
                </a:tc>
                <a:tc>
                  <a:txBody>
                    <a:bodyPr/>
                    <a:lstStyle/>
                    <a:p>
                      <a:pPr>
                        <a:defRPr sz="1200">
                          <a:solidFill>
                            <a:srgbClr val="334155"/>
                          </a:solidFill>
                          <a:latin typeface="Calibri"/>
                        </a:defRPr>
                      </a:pPr>
                      <a:r>
                        <a:t>Executed apk upgrade in Dockerfile</a:t>
                      </a:r>
                      <a:br/>
                      <a:r>
                        <a:t>Resolved in CI Run #10</a:t>
                      </a:r>
                    </a:p>
                  </a:txBody>
                  <a:tcPr anchor="ctr">
                    <a:solidFill>
                      <a:srgbClr val="FFFFFF"/>
                    </a:solidFill>
                  </a:tcPr>
                </a:tc>
              </a:tr>
            </a:tbl>
          </a:graphicData>
        </a:graphic>
      </p:graphicFrame>
      <p:sp>
        <p:nvSpPr>
          <p:cNvPr id="7" name="TextBox 6"/>
          <p:cNvSpPr txBox="1"/>
          <p:nvPr/>
        </p:nvSpPr>
        <p:spPr>
          <a:xfrm>
            <a:off x="5989320" y="5696712"/>
            <a:ext cx="5486400" cy="411480"/>
          </a:xfrm>
          <a:prstGeom prst="rect">
            <a:avLst/>
          </a:prstGeom>
          <a:noFill/>
        </p:spPr>
        <p:txBody>
          <a:bodyPr wrap="none">
            <a:spAutoFit/>
          </a:bodyPr>
          <a:lstStyle/>
          <a:p>
            <a:pPr algn="ctr">
              <a:defRPr sz="1200">
                <a:solidFill>
                  <a:srgbClr val="64748B"/>
                </a:solidFill>
                <a:latin typeface="Calibri"/>
              </a:defRPr>
            </a:pPr>
            <a:r>
              <a:t>Table 2: Aqua Trivy container vulnerability detections and dependency remediation summary.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Infrastructure as Code: AWS Provisioning (Terraform)</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8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Modular cloud topology: Codified in Terraform to provision an isolated AWS infrastructure in Sydney (ap-southeast-2)</a:t>
            </a:r>
          </a:p>
          <a:p>
            <a:pPr>
              <a:lnSpc>
                <a:spcPct val="115000"/>
              </a:lnSpc>
              <a:spcAft>
                <a:spcPts val="600"/>
              </a:spcAft>
              <a:defRPr sz="1800">
                <a:solidFill>
                  <a:srgbClr val="334155"/>
                </a:solidFill>
                <a:latin typeface="Calibri"/>
              </a:defRPr>
            </a:pPr>
            <a:r>
              <a:t>•  Network architecture: 10.20.0.0/16 VPC, 2 public subnets, 2 private subnets across 2 AZs, Internet Gateway, and NAT Gateway</a:t>
            </a:r>
          </a:p>
          <a:p>
            <a:pPr>
              <a:lnSpc>
                <a:spcPct val="115000"/>
              </a:lnSpc>
              <a:spcAft>
                <a:spcPts val="600"/>
              </a:spcAft>
              <a:defRPr sz="1800">
                <a:solidFill>
                  <a:srgbClr val="334155"/>
                </a:solidFill>
                <a:latin typeface="Calibri"/>
              </a:defRPr>
            </a:pPr>
            <a:r>
              <a:t>•  Managed compute cluster: Amazon EKS v1.35 with managed node group of 2x t3.small instances (4 vCPUs within account quota)</a:t>
            </a:r>
          </a:p>
          <a:p>
            <a:pPr>
              <a:lnSpc>
                <a:spcPct val="115000"/>
              </a:lnSpc>
              <a:spcAft>
                <a:spcPts val="600"/>
              </a:spcAft>
              <a:defRPr sz="1800">
                <a:solidFill>
                  <a:srgbClr val="334155"/>
                </a:solidFill>
                <a:latin typeface="Calibri"/>
              </a:defRPr>
            </a:pPr>
            <a:r>
              <a:t>•  Deterministic plan: Dry-run execution verified exactly 50 cloud resources to add, 0 to change, and 0 to destroy</a:t>
            </a:r>
          </a:p>
          <a:p>
            <a:pPr>
              <a:lnSpc>
                <a:spcPct val="115000"/>
              </a:lnSpc>
              <a:spcAft>
                <a:spcPts val="600"/>
              </a:spcAft>
              <a:defRPr sz="1800">
                <a:solidFill>
                  <a:srgbClr val="334155"/>
                </a:solidFill>
                <a:latin typeface="Calibri"/>
              </a:defRPr>
            </a:pPr>
            <a:r>
              <a:t>•  Lifecycle teardown: Full stack provisioned and verified, then destroyed immediately to maintain zero ongoing cloud cost</a:t>
            </a:r>
          </a:p>
        </p:txBody>
      </p:sp>
      <p:sp>
        <p:nvSpPr>
          <p:cNvPr id="6" name="Rectangle 5"/>
          <p:cNvSpPr/>
          <p:nvPr/>
        </p:nvSpPr>
        <p:spPr>
          <a:xfrm>
            <a:off x="6704343" y="1161288"/>
            <a:ext cx="4056352" cy="2203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plan.jpg"/>
          <p:cNvPicPr>
            <a:picLocks noChangeAspect="1"/>
          </p:cNvPicPr>
          <p:nvPr/>
        </p:nvPicPr>
        <p:blipFill>
          <a:blip r:embed="rId2"/>
          <a:stretch>
            <a:fillRect/>
          </a:stretch>
        </p:blipFill>
        <p:spPr>
          <a:xfrm>
            <a:off x="6731775" y="1188720"/>
            <a:ext cx="4001488" cy="2148840"/>
          </a:xfrm>
          <a:prstGeom prst="rect">
            <a:avLst/>
          </a:prstGeom>
        </p:spPr>
      </p:pic>
      <p:sp>
        <p:nvSpPr>
          <p:cNvPr id="8" name="TextBox 7"/>
          <p:cNvSpPr txBox="1"/>
          <p:nvPr/>
        </p:nvSpPr>
        <p:spPr>
          <a:xfrm>
            <a:off x="5989320" y="3364992"/>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5a: Terraform plan confirming 50 resources to add with 2x t3.small nodes.</a:t>
            </a:r>
          </a:p>
        </p:txBody>
      </p:sp>
      <p:sp>
        <p:nvSpPr>
          <p:cNvPr id="9" name="Rectangle 8"/>
          <p:cNvSpPr/>
          <p:nvPr/>
        </p:nvSpPr>
        <p:spPr>
          <a:xfrm>
            <a:off x="6512394" y="3721607"/>
            <a:ext cx="4440251" cy="2203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9a-vpc.jpg"/>
          <p:cNvPicPr>
            <a:picLocks noChangeAspect="1"/>
          </p:cNvPicPr>
          <p:nvPr/>
        </p:nvPicPr>
        <p:blipFill>
          <a:blip r:embed="rId3"/>
          <a:stretch>
            <a:fillRect/>
          </a:stretch>
        </p:blipFill>
        <p:spPr>
          <a:xfrm>
            <a:off x="6539826" y="3749039"/>
            <a:ext cx="4385387" cy="2148840"/>
          </a:xfrm>
          <a:prstGeom prst="rect">
            <a:avLst/>
          </a:prstGeom>
        </p:spPr>
      </p:pic>
      <p:sp>
        <p:nvSpPr>
          <p:cNvPr id="11" name="TextBox 10"/>
          <p:cNvSpPr txBox="1"/>
          <p:nvPr/>
        </p:nvSpPr>
        <p:spPr>
          <a:xfrm>
            <a:off x="5989320" y="5925311"/>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5b: AWS VPC console resource map showing multi-AZ subnets, route tables, and NAT Gateway.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Container Orchestration &amp; Helm Deployment (kind)</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9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Standardized packaging: Custom helm/campusfind chart (v1.0.0) packages deployments, ClusterIP services, secrets, and ingress</a:t>
            </a:r>
          </a:p>
          <a:p>
            <a:pPr>
              <a:lnSpc>
                <a:spcPct val="115000"/>
              </a:lnSpc>
              <a:spcAft>
                <a:spcPts val="600"/>
              </a:spcAft>
              <a:defRPr sz="1800">
                <a:solidFill>
                  <a:srgbClr val="334155"/>
                </a:solidFill>
                <a:latin typeface="Calibri"/>
              </a:defRPr>
            </a:pPr>
            <a:r>
              <a:t>•  Workload high availability: Frontend and backend deployed with 2 replicas each behind Traefik Ingress on HTTP :80</a:t>
            </a:r>
          </a:p>
          <a:p>
            <a:pPr>
              <a:lnSpc>
                <a:spcPct val="115000"/>
              </a:lnSpc>
              <a:spcAft>
                <a:spcPts val="600"/>
              </a:spcAft>
              <a:defRPr sz="1800">
                <a:solidFill>
                  <a:srgbClr val="334155"/>
                </a:solidFill>
                <a:latin typeface="Calibri"/>
              </a:defRPr>
            </a:pPr>
            <a:r>
              <a:t>•  Startup synchronization: wait-for-postgres init container polls PostgreSQL :5432, preventing backend startup race conditions</a:t>
            </a:r>
          </a:p>
          <a:p>
            <a:pPr>
              <a:lnSpc>
                <a:spcPct val="115000"/>
              </a:lnSpc>
              <a:spcAft>
                <a:spcPts val="600"/>
              </a:spcAft>
              <a:defRPr sz="1800">
                <a:solidFill>
                  <a:srgbClr val="334155"/>
                </a:solidFill>
                <a:latin typeface="Calibri"/>
              </a:defRPr>
            </a:pPr>
            <a:r>
              <a:t>•  Persistent storage: PostgreSQL state persisted via 5Gi PersistentVolumeClaim bound to standard local-path storage provisioner</a:t>
            </a:r>
          </a:p>
          <a:p>
            <a:pPr>
              <a:lnSpc>
                <a:spcPct val="115000"/>
              </a:lnSpc>
              <a:spcAft>
                <a:spcPts val="600"/>
              </a:spcAft>
              <a:defRPr sz="1800">
                <a:solidFill>
                  <a:srgbClr val="334155"/>
                </a:solidFill>
                <a:latin typeface="Calibri"/>
              </a:defRPr>
            </a:pPr>
            <a:r>
              <a:t>•  Cost-conscious execution: Workloads hosted on local kind cluster (Kubernetes v1.37.0) to eliminate recurring cloud costs</a:t>
            </a:r>
          </a:p>
        </p:txBody>
      </p:sp>
      <p:sp>
        <p:nvSpPr>
          <p:cNvPr id="6" name="Rectangle 5"/>
          <p:cNvSpPr/>
          <p:nvPr/>
        </p:nvSpPr>
        <p:spPr>
          <a:xfrm>
            <a:off x="5961888" y="1455610"/>
            <a:ext cx="5541264" cy="120357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2-k8s.jpg"/>
          <p:cNvPicPr>
            <a:picLocks noChangeAspect="1"/>
          </p:cNvPicPr>
          <p:nvPr/>
        </p:nvPicPr>
        <p:blipFill>
          <a:blip r:embed="rId2"/>
          <a:stretch>
            <a:fillRect/>
          </a:stretch>
        </p:blipFill>
        <p:spPr>
          <a:xfrm>
            <a:off x="5989320" y="1483042"/>
            <a:ext cx="5486400" cy="1148715"/>
          </a:xfrm>
          <a:prstGeom prst="rect">
            <a:avLst/>
          </a:prstGeom>
        </p:spPr>
      </p:pic>
      <p:sp>
        <p:nvSpPr>
          <p:cNvPr id="8" name="TextBox 7"/>
          <p:cNvSpPr txBox="1"/>
          <p:nvPr/>
        </p:nvSpPr>
        <p:spPr>
          <a:xfrm>
            <a:off x="5989320" y="2916936"/>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6: Kubernetes resource deployment showing active services, ingress, HPA, and bound PVC.</a:t>
            </a:r>
          </a:p>
        </p:txBody>
      </p:sp>
      <p:graphicFrame>
        <p:nvGraphicFramePr>
          <p:cNvPr id="9" name="Table 8"/>
          <p:cNvGraphicFramePr>
            <a:graphicFrameLocks noGrp="1"/>
          </p:cNvGraphicFramePr>
          <p:nvPr/>
        </p:nvGraphicFramePr>
        <p:xfrm>
          <a:off x="5989320" y="3383280"/>
          <a:ext cx="5486400" cy="2743200"/>
        </p:xfrm>
        <a:graphic>
          <a:graphicData uri="http://schemas.openxmlformats.org/drawingml/2006/table">
            <a:tbl>
              <a:tblPr firstRow="1" bandRow="1">
                <a:tableStyleId>{5C22544A-7EE6-4342-B048-85BDC9FD1C3A}</a:tableStyleId>
              </a:tblPr>
              <a:tblGrid>
                <a:gridCol w="1188720"/>
                <a:gridCol w="1005840"/>
                <a:gridCol w="1645920"/>
                <a:gridCol w="1645920"/>
              </a:tblGrid>
              <a:tr h="685800">
                <a:tc>
                  <a:txBody>
                    <a:bodyPr/>
                    <a:lstStyle/>
                    <a:p>
                      <a:pPr>
                        <a:defRPr sz="1200" b="1">
                          <a:solidFill>
                            <a:srgbClr val="FFFFFF"/>
                          </a:solidFill>
                          <a:latin typeface="Calibri"/>
                        </a:defRPr>
                      </a:pPr>
                      <a:r>
                        <a:t>Deployment</a:t>
                      </a:r>
                    </a:p>
                  </a:txBody>
                  <a:tcPr anchor="ctr">
                    <a:solidFill>
                      <a:srgbClr val="0F766E"/>
                    </a:solidFill>
                  </a:tcPr>
                </a:tc>
                <a:tc>
                  <a:txBody>
                    <a:bodyPr/>
                    <a:lstStyle/>
                    <a:p>
                      <a:pPr>
                        <a:defRPr sz="1200" b="1">
                          <a:solidFill>
                            <a:srgbClr val="FFFFFF"/>
                          </a:solidFill>
                          <a:latin typeface="Calibri"/>
                        </a:defRPr>
                      </a:pPr>
                      <a:r>
                        <a:t>Replicas</a:t>
                      </a:r>
                    </a:p>
                  </a:txBody>
                  <a:tcPr anchor="ctr">
                    <a:solidFill>
                      <a:srgbClr val="0F766E"/>
                    </a:solidFill>
                  </a:tcPr>
                </a:tc>
                <a:tc>
                  <a:txBody>
                    <a:bodyPr/>
                    <a:lstStyle/>
                    <a:p>
                      <a:pPr>
                        <a:defRPr sz="1200" b="1">
                          <a:solidFill>
                            <a:srgbClr val="FFFFFF"/>
                          </a:solidFill>
                          <a:latin typeface="Calibri"/>
                        </a:defRPr>
                      </a:pPr>
                      <a:r>
                        <a:t>Service / Port</a:t>
                      </a:r>
                    </a:p>
                  </a:txBody>
                  <a:tcPr anchor="ctr">
                    <a:solidFill>
                      <a:srgbClr val="0F766E"/>
                    </a:solidFill>
                  </a:tcPr>
                </a:tc>
                <a:tc>
                  <a:txBody>
                    <a:bodyPr/>
                    <a:lstStyle/>
                    <a:p>
                      <a:pPr>
                        <a:defRPr sz="1200" b="1">
                          <a:solidFill>
                            <a:srgbClr val="FFFFFF"/>
                          </a:solidFill>
                          <a:latin typeface="Calibri"/>
                        </a:defRPr>
                      </a:pPr>
                      <a:r>
                        <a:t>Storage &amp; Probes</a:t>
                      </a:r>
                    </a:p>
                  </a:txBody>
                  <a:tcPr anchor="ctr">
                    <a:solidFill>
                      <a:srgbClr val="0F766E"/>
                    </a:solidFill>
                  </a:tcPr>
                </a:tc>
              </a:tr>
              <a:tr h="685800">
                <a:tc>
                  <a:txBody>
                    <a:bodyPr/>
                    <a:lstStyle/>
                    <a:p>
                      <a:pPr>
                        <a:defRPr sz="1100">
                          <a:solidFill>
                            <a:srgbClr val="334155"/>
                          </a:solidFill>
                          <a:latin typeface="Calibri"/>
                        </a:defRPr>
                      </a:pPr>
                      <a:r>
                        <a:t>frontend</a:t>
                      </a:r>
                    </a:p>
                  </a:txBody>
                  <a:tcPr anchor="ctr">
                    <a:solidFill>
                      <a:srgbClr val="F8FAFC"/>
                    </a:solidFill>
                  </a:tcPr>
                </a:tc>
                <a:tc>
                  <a:txBody>
                    <a:bodyPr/>
                    <a:lstStyle/>
                    <a:p>
                      <a:pPr>
                        <a:defRPr sz="1100">
                          <a:solidFill>
                            <a:srgbClr val="334155"/>
                          </a:solidFill>
                          <a:latin typeface="Calibri"/>
                        </a:defRPr>
                      </a:pPr>
                      <a:r>
                        <a:t>2 / 2</a:t>
                      </a:r>
                    </a:p>
                  </a:txBody>
                  <a:tcPr anchor="ctr">
                    <a:solidFill>
                      <a:srgbClr val="F8FAFC"/>
                    </a:solidFill>
                  </a:tcPr>
                </a:tc>
                <a:tc>
                  <a:txBody>
                    <a:bodyPr/>
                    <a:lstStyle/>
                    <a:p>
                      <a:pPr>
                        <a:defRPr sz="1100">
                          <a:solidFill>
                            <a:srgbClr val="334155"/>
                          </a:solidFill>
                          <a:latin typeface="Calibri"/>
                        </a:defRPr>
                      </a:pPr>
                      <a:r>
                        <a:t>ClusterIP :80</a:t>
                      </a:r>
                      <a:br/>
                      <a:r>
                        <a:t>Traefik Path: /</a:t>
                      </a:r>
                    </a:p>
                  </a:txBody>
                  <a:tcPr anchor="ctr">
                    <a:solidFill>
                      <a:srgbClr val="F8FAFC"/>
                    </a:solidFill>
                  </a:tcPr>
                </a:tc>
                <a:tc>
                  <a:txBody>
                    <a:bodyPr/>
                    <a:lstStyle/>
                    <a:p>
                      <a:pPr>
                        <a:defRPr sz="1100">
                          <a:solidFill>
                            <a:srgbClr val="334155"/>
                          </a:solidFill>
                          <a:latin typeface="Calibri"/>
                        </a:defRPr>
                      </a:pPr>
                      <a:r>
                        <a:t>Liveness: / 8080</a:t>
                      </a:r>
                      <a:br/>
                      <a:r>
                        <a:t>Readiness: / 8080</a:t>
                      </a:r>
                    </a:p>
                  </a:txBody>
                  <a:tcPr anchor="ctr">
                    <a:solidFill>
                      <a:srgbClr val="F8FAFC"/>
                    </a:solidFill>
                  </a:tcPr>
                </a:tc>
              </a:tr>
              <a:tr h="685800">
                <a:tc>
                  <a:txBody>
                    <a:bodyPr/>
                    <a:lstStyle/>
                    <a:p>
                      <a:pPr>
                        <a:defRPr sz="1100">
                          <a:solidFill>
                            <a:srgbClr val="334155"/>
                          </a:solidFill>
                          <a:latin typeface="Calibri"/>
                        </a:defRPr>
                      </a:pPr>
                      <a:r>
                        <a:t>backend</a:t>
                      </a:r>
                    </a:p>
                  </a:txBody>
                  <a:tcPr anchor="ctr">
                    <a:solidFill>
                      <a:srgbClr val="FFFFFF"/>
                    </a:solidFill>
                  </a:tcPr>
                </a:tc>
                <a:tc>
                  <a:txBody>
                    <a:bodyPr/>
                    <a:lstStyle/>
                    <a:p>
                      <a:pPr>
                        <a:defRPr sz="1100">
                          <a:solidFill>
                            <a:srgbClr val="334155"/>
                          </a:solidFill>
                          <a:latin typeface="Calibri"/>
                        </a:defRPr>
                      </a:pPr>
                      <a:r>
                        <a:t>2 / 2 (HPA: 6)</a:t>
                      </a:r>
                    </a:p>
                  </a:txBody>
                  <a:tcPr anchor="ctr">
                    <a:solidFill>
                      <a:srgbClr val="FFFFFF"/>
                    </a:solidFill>
                  </a:tcPr>
                </a:tc>
                <a:tc>
                  <a:txBody>
                    <a:bodyPr/>
                    <a:lstStyle/>
                    <a:p>
                      <a:pPr>
                        <a:defRPr sz="1100">
                          <a:solidFill>
                            <a:srgbClr val="334155"/>
                          </a:solidFill>
                          <a:latin typeface="Calibri"/>
                        </a:defRPr>
                      </a:pPr>
                      <a:r>
                        <a:t>ClusterIP :8000</a:t>
                      </a:r>
                      <a:br/>
                      <a:r>
                        <a:t>Traefik Path: /api</a:t>
                      </a:r>
                    </a:p>
                  </a:txBody>
                  <a:tcPr anchor="ctr">
                    <a:solidFill>
                      <a:srgbClr val="FFFFFF"/>
                    </a:solidFill>
                  </a:tcPr>
                </a:tc>
                <a:tc>
                  <a:txBody>
                    <a:bodyPr/>
                    <a:lstStyle/>
                    <a:p>
                      <a:pPr>
                        <a:defRPr sz="1100">
                          <a:solidFill>
                            <a:srgbClr val="334155"/>
                          </a:solidFill>
                          <a:latin typeface="Calibri"/>
                        </a:defRPr>
                      </a:pPr>
                      <a:r>
                        <a:t>Init: wait-for-postgres</a:t>
                      </a:r>
                      <a:br/>
                      <a:r>
                        <a:t>Liveness /health, /ready</a:t>
                      </a:r>
                    </a:p>
                  </a:txBody>
                  <a:tcPr anchor="ctr">
                    <a:solidFill>
                      <a:srgbClr val="FFFFFF"/>
                    </a:solidFill>
                  </a:tcPr>
                </a:tc>
              </a:tr>
              <a:tr h="685800">
                <a:tc>
                  <a:txBody>
                    <a:bodyPr/>
                    <a:lstStyle/>
                    <a:p>
                      <a:pPr>
                        <a:defRPr sz="1100">
                          <a:solidFill>
                            <a:srgbClr val="334155"/>
                          </a:solidFill>
                          <a:latin typeface="Calibri"/>
                        </a:defRPr>
                      </a:pPr>
                      <a:r>
                        <a:t>postgres</a:t>
                      </a:r>
                    </a:p>
                  </a:txBody>
                  <a:tcPr anchor="ctr">
                    <a:solidFill>
                      <a:srgbClr val="F8FAFC"/>
                    </a:solidFill>
                  </a:tcPr>
                </a:tc>
                <a:tc>
                  <a:txBody>
                    <a:bodyPr/>
                    <a:lstStyle/>
                    <a:p>
                      <a:pPr>
                        <a:defRPr sz="1100">
                          <a:solidFill>
                            <a:srgbClr val="334155"/>
                          </a:solidFill>
                          <a:latin typeface="Calibri"/>
                        </a:defRPr>
                      </a:pPr>
                      <a:r>
                        <a:t>1 / 1</a:t>
                      </a:r>
                    </a:p>
                  </a:txBody>
                  <a:tcPr anchor="ctr">
                    <a:solidFill>
                      <a:srgbClr val="F8FAFC"/>
                    </a:solidFill>
                  </a:tcPr>
                </a:tc>
                <a:tc>
                  <a:txBody>
                    <a:bodyPr/>
                    <a:lstStyle/>
                    <a:p>
                      <a:pPr>
                        <a:defRPr sz="1100">
                          <a:solidFill>
                            <a:srgbClr val="334155"/>
                          </a:solidFill>
                          <a:latin typeface="Calibri"/>
                        </a:defRPr>
                      </a:pPr>
                      <a:r>
                        <a:t>ClusterIP :5432</a:t>
                      </a:r>
                      <a:br/>
                      <a:r>
                        <a:t>Internal only</a:t>
                      </a:r>
                    </a:p>
                  </a:txBody>
                  <a:tcPr anchor="ctr">
                    <a:solidFill>
                      <a:srgbClr val="F8FAFC"/>
                    </a:solidFill>
                  </a:tcPr>
                </a:tc>
                <a:tc>
                  <a:txBody>
                    <a:bodyPr/>
                    <a:lstStyle/>
                    <a:p>
                      <a:pPr>
                        <a:defRPr sz="1100">
                          <a:solidFill>
                            <a:srgbClr val="334155"/>
                          </a:solidFill>
                          <a:latin typeface="Calibri"/>
                        </a:defRPr>
                      </a:pPr>
                      <a:r>
                        <a:t>5Gi PVC (local-path)</a:t>
                      </a:r>
                      <a:br/>
                      <a:r>
                        <a:t>pg_isready probe</a:t>
                      </a:r>
                    </a:p>
                  </a:txBody>
                  <a:tcPr anchor="ctr">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Observability: Metrics Collection &amp; Autoscaling</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10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Prometheus Operator integration: Custom ServiceMonitor targets FastAPI /metrics endpoint with a 15-second scrape interval</a:t>
            </a:r>
          </a:p>
          <a:p>
            <a:pPr>
              <a:lnSpc>
                <a:spcPct val="115000"/>
              </a:lnSpc>
              <a:spcAft>
                <a:spcPts val="600"/>
              </a:spcAft>
              <a:defRPr sz="1800">
                <a:solidFill>
                  <a:srgbClr val="334155"/>
                </a:solidFill>
                <a:latin typeface="Calibri"/>
              </a:defRPr>
            </a:pPr>
            <a:r>
              <a:t>•  Application telemetry dashboard: Grafana dashboard tracks request throughput, P95 latency, 5xx error rates, and replica counts</a:t>
            </a:r>
          </a:p>
          <a:p>
            <a:pPr>
              <a:lnSpc>
                <a:spcPct val="115000"/>
              </a:lnSpc>
              <a:spcAft>
                <a:spcPts val="600"/>
              </a:spcAft>
              <a:defRPr sz="1800">
                <a:solidFill>
                  <a:srgbClr val="334155"/>
                </a:solidFill>
                <a:latin typeface="Calibri"/>
              </a:defRPr>
            </a:pPr>
            <a:r>
              <a:t>•  Stress testing execution: Executed 75-second load test with concurrency 6 (scripts/load-test.sh), peaking at ~130 requests/second</a:t>
            </a:r>
          </a:p>
          <a:p>
            <a:pPr>
              <a:lnSpc>
                <a:spcPct val="115000"/>
              </a:lnSpc>
              <a:spcAft>
                <a:spcPts val="600"/>
              </a:spcAft>
              <a:defRPr sz="1800">
                <a:solidFill>
                  <a:srgbClr val="334155"/>
                </a:solidFill>
                <a:latin typeface="Calibri"/>
              </a:defRPr>
            </a:pPr>
            <a:r>
              <a:t>•  Horizontal Pod Autoscaling: HPA (CPU utilization target 60%) dynamically scaled backend deployment from 2 to 6 replicas</a:t>
            </a:r>
          </a:p>
          <a:p>
            <a:pPr>
              <a:lnSpc>
                <a:spcPct val="115000"/>
              </a:lnSpc>
              <a:spcAft>
                <a:spcPts val="600"/>
              </a:spcAft>
              <a:defRPr sz="1800">
                <a:solidFill>
                  <a:srgbClr val="334155"/>
                </a:solidFill>
                <a:latin typeface="Calibri"/>
              </a:defRPr>
            </a:pPr>
            <a:r>
              <a:t>•  System reliability outcome: Zero 5xx server errors observed throughout peak load; P95 latency maintained at ~440ms</a:t>
            </a:r>
          </a:p>
        </p:txBody>
      </p:sp>
      <p:sp>
        <p:nvSpPr>
          <p:cNvPr id="6" name="Rectangle 5"/>
          <p:cNvSpPr/>
          <p:nvPr/>
        </p:nvSpPr>
        <p:spPr>
          <a:xfrm>
            <a:off x="5961888" y="1682496"/>
            <a:ext cx="5541264" cy="36210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7-grafana.jpg"/>
          <p:cNvPicPr>
            <a:picLocks noChangeAspect="1"/>
          </p:cNvPicPr>
          <p:nvPr/>
        </p:nvPicPr>
        <p:blipFill>
          <a:blip r:embed="rId2"/>
          <a:stretch>
            <a:fillRect/>
          </a:stretch>
        </p:blipFill>
        <p:spPr>
          <a:xfrm>
            <a:off x="5989320" y="1709928"/>
            <a:ext cx="5486400" cy="3566160"/>
          </a:xfrm>
          <a:prstGeom prst="rect">
            <a:avLst/>
          </a:prstGeom>
        </p:spPr>
      </p:pic>
      <p:sp>
        <p:nvSpPr>
          <p:cNvPr id="8" name="TextBox 7"/>
          <p:cNvSpPr txBox="1"/>
          <p:nvPr/>
        </p:nvSpPr>
        <p:spPr>
          <a:xfrm>
            <a:off x="5989320" y="5852160"/>
            <a:ext cx="5486400" cy="411480"/>
          </a:xfrm>
          <a:prstGeom prst="rect">
            <a:avLst/>
          </a:prstGeom>
          <a:noFill/>
        </p:spPr>
        <p:txBody>
          <a:bodyPr wrap="square" lIns="0" tIns="0" rIns="0" bIns="0">
            <a:spAutoFit/>
          </a:bodyPr>
          <a:lstStyle/>
          <a:p>
            <a:pPr algn="ctr">
              <a:defRPr sz="1200">
                <a:solidFill>
                  <a:srgbClr val="64748B"/>
                </a:solidFill>
                <a:latin typeface="Calibri"/>
              </a:defRPr>
            </a:pPr>
            <a:r>
              <a:t>Figure 7: Grafana telemetry under load: ~130 req/s peak, 0 errors, and HPA scaling from 2 to 6 replicas.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Troubleshooting &amp; Engineering Resilience</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11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Systematic failure diagnosis: Simulated and remediated common Kubernetes, container, and cloud deployment failure scenarios</a:t>
            </a:r>
          </a:p>
          <a:p>
            <a:pPr>
              <a:lnSpc>
                <a:spcPct val="115000"/>
              </a:lnSpc>
              <a:spcAft>
                <a:spcPts val="600"/>
              </a:spcAft>
              <a:defRPr sz="1800">
                <a:solidFill>
                  <a:srgbClr val="334155"/>
                </a:solidFill>
                <a:latin typeface="Calibri"/>
              </a:defRPr>
            </a:pPr>
            <a:r>
              <a:t>•  Image pull failure diagnosis: Resolved ImagePullBackOff by correcting malformed image tags and registry credentials</a:t>
            </a:r>
          </a:p>
          <a:p>
            <a:pPr>
              <a:lnSpc>
                <a:spcPct val="115000"/>
              </a:lnSpc>
              <a:spcAft>
                <a:spcPts val="600"/>
              </a:spcAft>
              <a:defRPr sz="1800">
                <a:solidFill>
                  <a:srgbClr val="334155"/>
                </a:solidFill>
                <a:latin typeface="Calibri"/>
              </a:defRPr>
            </a:pPr>
            <a:r>
              <a:t>•  Service discovery diagnosis: Resolved 502 Bad Gateway by identifying and fixing label selector mismatches with Pod templates</a:t>
            </a:r>
          </a:p>
          <a:p>
            <a:pPr>
              <a:lnSpc>
                <a:spcPct val="115000"/>
              </a:lnSpc>
              <a:spcAft>
                <a:spcPts val="600"/>
              </a:spcAft>
              <a:defRPr sz="1800">
                <a:solidFill>
                  <a:srgbClr val="334155"/>
                </a:solidFill>
                <a:latin typeface="Calibri"/>
              </a:defRPr>
            </a:pPr>
            <a:r>
              <a:t>•  Health check resolution: Eliminated Docker Compose unhealthy state by enforcing IPv4 127.0.0.1 target over IPv6 localhost</a:t>
            </a:r>
          </a:p>
          <a:p>
            <a:pPr>
              <a:lnSpc>
                <a:spcPct val="115000"/>
              </a:lnSpc>
              <a:spcAft>
                <a:spcPts val="600"/>
              </a:spcAft>
              <a:defRPr sz="1800">
                <a:solidFill>
                  <a:srgbClr val="334155"/>
                </a:solidFill>
                <a:latin typeface="Calibri"/>
              </a:defRPr>
            </a:pPr>
            <a:r>
              <a:t>•  Governance accommodation: Isolated AWS OIDC-dependent resources behind feature flags to handle organizational SCP policies</a:t>
            </a:r>
          </a:p>
        </p:txBody>
      </p:sp>
      <p:graphicFrame>
        <p:nvGraphicFramePr>
          <p:cNvPr id="6" name="Table 5"/>
          <p:cNvGraphicFramePr>
            <a:graphicFrameLocks noGrp="1"/>
          </p:cNvGraphicFramePr>
          <p:nvPr/>
        </p:nvGraphicFramePr>
        <p:xfrm>
          <a:off x="5989320" y="1234440"/>
          <a:ext cx="5486400" cy="4389120"/>
        </p:xfrm>
        <a:graphic>
          <a:graphicData uri="http://schemas.openxmlformats.org/drawingml/2006/table">
            <a:tbl>
              <a:tblPr firstRow="1" bandRow="1">
                <a:tableStyleId>{5C22544A-7EE6-4342-B048-85BDC9FD1C3A}</a:tableStyleId>
              </a:tblPr>
              <a:tblGrid>
                <a:gridCol w="1645920"/>
                <a:gridCol w="1920240"/>
                <a:gridCol w="1920240"/>
              </a:tblGrid>
              <a:tr h="877824">
                <a:tc>
                  <a:txBody>
                    <a:bodyPr/>
                    <a:lstStyle/>
                    <a:p>
                      <a:pPr>
                        <a:defRPr sz="1300" b="1">
                          <a:solidFill>
                            <a:srgbClr val="FFFFFF"/>
                          </a:solidFill>
                          <a:latin typeface="Calibri"/>
                        </a:defRPr>
                      </a:pPr>
                      <a:r>
                        <a:t>Incident Scenario</a:t>
                      </a:r>
                    </a:p>
                  </a:txBody>
                  <a:tcPr anchor="ctr">
                    <a:solidFill>
                      <a:srgbClr val="0F766E"/>
                    </a:solidFill>
                  </a:tcPr>
                </a:tc>
                <a:tc>
                  <a:txBody>
                    <a:bodyPr/>
                    <a:lstStyle/>
                    <a:p>
                      <a:pPr>
                        <a:defRPr sz="1300" b="1">
                          <a:solidFill>
                            <a:srgbClr val="FFFFFF"/>
                          </a:solidFill>
                          <a:latin typeface="Calibri"/>
                        </a:defRPr>
                      </a:pPr>
                      <a:r>
                        <a:t>Observed Symptom</a:t>
                      </a:r>
                    </a:p>
                  </a:txBody>
                  <a:tcPr anchor="ctr">
                    <a:solidFill>
                      <a:srgbClr val="0F766E"/>
                    </a:solidFill>
                  </a:tcPr>
                </a:tc>
                <a:tc>
                  <a:txBody>
                    <a:bodyPr/>
                    <a:lstStyle/>
                    <a:p>
                      <a:pPr>
                        <a:defRPr sz="1300" b="1">
                          <a:solidFill>
                            <a:srgbClr val="FFFFFF"/>
                          </a:solidFill>
                          <a:latin typeface="Calibri"/>
                        </a:defRPr>
                      </a:pPr>
                      <a:r>
                        <a:t>Root Cause &amp; Remediation</a:t>
                      </a:r>
                    </a:p>
                  </a:txBody>
                  <a:tcPr anchor="ctr">
                    <a:solidFill>
                      <a:srgbClr val="0F766E"/>
                    </a:solidFill>
                  </a:tcPr>
                </a:tc>
              </a:tr>
              <a:tr h="877824">
                <a:tc>
                  <a:txBody>
                    <a:bodyPr/>
                    <a:lstStyle/>
                    <a:p>
                      <a:pPr>
                        <a:defRPr sz="1200">
                          <a:solidFill>
                            <a:srgbClr val="334155"/>
                          </a:solidFill>
                          <a:latin typeface="Calibri"/>
                        </a:defRPr>
                      </a:pPr>
                      <a:r>
                        <a:t>ImagePullBackOff</a:t>
                      </a:r>
                    </a:p>
                  </a:txBody>
                  <a:tcPr anchor="ctr">
                    <a:solidFill>
                      <a:srgbClr val="F8FAFC"/>
                    </a:solidFill>
                  </a:tcPr>
                </a:tc>
                <a:tc>
                  <a:txBody>
                    <a:bodyPr/>
                    <a:lstStyle/>
                    <a:p>
                      <a:pPr>
                        <a:defRPr sz="1200">
                          <a:solidFill>
                            <a:srgbClr val="334155"/>
                          </a:solidFill>
                          <a:latin typeface="Calibri"/>
                        </a:defRPr>
                      </a:pPr>
                      <a:r>
                        <a:t>Pod fails to start;</a:t>
                      </a:r>
                      <a:br/>
                      <a:r>
                        <a:t>ErrImagePull event</a:t>
                      </a:r>
                    </a:p>
                  </a:txBody>
                  <a:tcPr anchor="ctr">
                    <a:solidFill>
                      <a:srgbClr val="F8FAFC"/>
                    </a:solidFill>
                  </a:tcPr>
                </a:tc>
                <a:tc>
                  <a:txBody>
                    <a:bodyPr/>
                    <a:lstStyle/>
                    <a:p>
                      <a:pPr>
                        <a:defRPr sz="1200">
                          <a:solidFill>
                            <a:srgbClr val="334155"/>
                          </a:solidFill>
                          <a:latin typeface="Calibri"/>
                        </a:defRPr>
                      </a:pPr>
                      <a:r>
                        <a:t>Typo in image tag in Helm values.</a:t>
                      </a:r>
                      <a:br/>
                      <a:r>
                        <a:t>Fixed tag parameter &amp; pull secret.</a:t>
                      </a:r>
                    </a:p>
                  </a:txBody>
                  <a:tcPr anchor="ctr">
                    <a:solidFill>
                      <a:srgbClr val="F8FAFC"/>
                    </a:solidFill>
                  </a:tcPr>
                </a:tc>
              </a:tr>
              <a:tr h="877824">
                <a:tc>
                  <a:txBody>
                    <a:bodyPr/>
                    <a:lstStyle/>
                    <a:p>
                      <a:pPr>
                        <a:defRPr sz="1200">
                          <a:solidFill>
                            <a:srgbClr val="334155"/>
                          </a:solidFill>
                          <a:latin typeface="Calibri"/>
                        </a:defRPr>
                      </a:pPr>
                      <a:r>
                        <a:t>Endpoint Mismatch</a:t>
                      </a:r>
                    </a:p>
                  </a:txBody>
                  <a:tcPr anchor="ctr">
                    <a:solidFill>
                      <a:srgbClr val="FFFFFF"/>
                    </a:solidFill>
                  </a:tcPr>
                </a:tc>
                <a:tc>
                  <a:txBody>
                    <a:bodyPr/>
                    <a:lstStyle/>
                    <a:p>
                      <a:pPr>
                        <a:defRPr sz="1200">
                          <a:solidFill>
                            <a:srgbClr val="334155"/>
                          </a:solidFill>
                          <a:latin typeface="Calibri"/>
                        </a:defRPr>
                      </a:pPr>
                      <a:r>
                        <a:t>502 Bad Gateway;</a:t>
                      </a:r>
                      <a:br/>
                      <a:r>
                        <a:t>Empty endpoints list</a:t>
                      </a:r>
                    </a:p>
                  </a:txBody>
                  <a:tcPr anchor="ctr">
                    <a:solidFill>
                      <a:srgbClr val="FFFFFF"/>
                    </a:solidFill>
                  </a:tcPr>
                </a:tc>
                <a:tc>
                  <a:txBody>
                    <a:bodyPr/>
                    <a:lstStyle/>
                    <a:p>
                      <a:pPr>
                        <a:defRPr sz="1200">
                          <a:solidFill>
                            <a:srgbClr val="334155"/>
                          </a:solidFill>
                          <a:latin typeface="Calibri"/>
                        </a:defRPr>
                      </a:pPr>
                      <a:r>
                        <a:t>Service selector app != Pod label.</a:t>
                      </a:r>
                      <a:br/>
                      <a:r>
                        <a:t>Aligned labels in deployment template.</a:t>
                      </a:r>
                    </a:p>
                  </a:txBody>
                  <a:tcPr anchor="ctr">
                    <a:solidFill>
                      <a:srgbClr val="FFFFFF"/>
                    </a:solidFill>
                  </a:tcPr>
                </a:tc>
              </a:tr>
              <a:tr h="877824">
                <a:tc>
                  <a:txBody>
                    <a:bodyPr/>
                    <a:lstStyle/>
                    <a:p>
                      <a:pPr>
                        <a:defRPr sz="1200">
                          <a:solidFill>
                            <a:srgbClr val="334155"/>
                          </a:solidFill>
                          <a:latin typeface="Calibri"/>
                        </a:defRPr>
                      </a:pPr>
                      <a:r>
                        <a:t>Compose Health Fail</a:t>
                      </a:r>
                    </a:p>
                  </a:txBody>
                  <a:tcPr anchor="ctr">
                    <a:solidFill>
                      <a:srgbClr val="F8FAFC"/>
                    </a:solidFill>
                  </a:tcPr>
                </a:tc>
                <a:tc>
                  <a:txBody>
                    <a:bodyPr/>
                    <a:lstStyle/>
                    <a:p>
                      <a:pPr>
                        <a:defRPr sz="1200">
                          <a:solidFill>
                            <a:srgbClr val="334155"/>
                          </a:solidFill>
                          <a:latin typeface="Calibri"/>
                        </a:defRPr>
                      </a:pPr>
                      <a:r>
                        <a:t>Frontend container reports</a:t>
                      </a:r>
                      <a:br/>
                      <a:r>
                        <a:t>(unhealthy) in Compose</a:t>
                      </a:r>
                    </a:p>
                  </a:txBody>
                  <a:tcPr anchor="ctr">
                    <a:solidFill>
                      <a:srgbClr val="F8FAFC"/>
                    </a:solidFill>
                  </a:tcPr>
                </a:tc>
                <a:tc>
                  <a:txBody>
                    <a:bodyPr/>
                    <a:lstStyle/>
                    <a:p>
                      <a:pPr>
                        <a:defRPr sz="1200">
                          <a:solidFill>
                            <a:srgbClr val="334155"/>
                          </a:solidFill>
                          <a:latin typeface="Calibri"/>
                        </a:defRPr>
                      </a:pPr>
                      <a:r>
                        <a:t>Alpine wget resolved localhost to IPv6 ::1.</a:t>
                      </a:r>
                      <a:br/>
                      <a:r>
                        <a:t>Remediated target to 127.0.0.1.</a:t>
                      </a:r>
                    </a:p>
                  </a:txBody>
                  <a:tcPr anchor="ctr">
                    <a:solidFill>
                      <a:srgbClr val="F8FAFC"/>
                    </a:solidFill>
                  </a:tcPr>
                </a:tc>
              </a:tr>
              <a:tr h="877824">
                <a:tc>
                  <a:txBody>
                    <a:bodyPr/>
                    <a:lstStyle/>
                    <a:p>
                      <a:pPr>
                        <a:defRPr sz="1200">
                          <a:solidFill>
                            <a:srgbClr val="334155"/>
                          </a:solidFill>
                          <a:latin typeface="Calibri"/>
                        </a:defRPr>
                      </a:pPr>
                      <a:r>
                        <a:t>SCP OIDC Deny</a:t>
                      </a:r>
                    </a:p>
                  </a:txBody>
                  <a:tcPr anchor="ctr">
                    <a:solidFill>
                      <a:srgbClr val="FFFFFF"/>
                    </a:solidFill>
                  </a:tcPr>
                </a:tc>
                <a:tc>
                  <a:txBody>
                    <a:bodyPr/>
                    <a:lstStyle/>
                    <a:p>
                      <a:pPr>
                        <a:defRPr sz="1200">
                          <a:solidFill>
                            <a:srgbClr val="334155"/>
                          </a:solidFill>
                          <a:latin typeface="Calibri"/>
                        </a:defRPr>
                      </a:pPr>
                      <a:r>
                        <a:t>Terraform apply fails on</a:t>
                      </a:r>
                      <a:br/>
                      <a:r>
                        <a:t>IAM OIDC provider creation</a:t>
                      </a:r>
                    </a:p>
                  </a:txBody>
                  <a:tcPr anchor="ctr">
                    <a:solidFill>
                      <a:srgbClr val="FFFFFF"/>
                    </a:solidFill>
                  </a:tcPr>
                </a:tc>
                <a:tc>
                  <a:txBody>
                    <a:bodyPr/>
                    <a:lstStyle/>
                    <a:p>
                      <a:pPr>
                        <a:defRPr sz="1200">
                          <a:solidFill>
                            <a:srgbClr val="334155"/>
                          </a:solidFill>
                          <a:latin typeface="Calibri"/>
                        </a:defRPr>
                      </a:pPr>
                      <a:r>
                        <a:t>Organization SCP blocks OIDC providers.</a:t>
                      </a:r>
                      <a:br/>
                      <a:r>
                        <a:t>Decoupled via enable_irsa_ebs_csi flag.</a:t>
                      </a:r>
                    </a:p>
                  </a:txBody>
                  <a:tcPr anchor="ctr">
                    <a:solidFill>
                      <a:srgbClr val="FFFFFF"/>
                    </a:solidFill>
                  </a:tcPr>
                </a:tc>
              </a:tr>
            </a:tbl>
          </a:graphicData>
        </a:graphic>
      </p:graphicFrame>
      <p:sp>
        <p:nvSpPr>
          <p:cNvPr id="7" name="TextBox 6"/>
          <p:cNvSpPr txBox="1"/>
          <p:nvPr/>
        </p:nvSpPr>
        <p:spPr>
          <a:xfrm>
            <a:off x="5989320" y="5696712"/>
            <a:ext cx="5486400" cy="411480"/>
          </a:xfrm>
          <a:prstGeom prst="rect">
            <a:avLst/>
          </a:prstGeom>
          <a:noFill/>
        </p:spPr>
        <p:txBody>
          <a:bodyPr wrap="none">
            <a:spAutoFit/>
          </a:bodyPr>
          <a:lstStyle/>
          <a:p>
            <a:pPr algn="ctr">
              <a:defRPr sz="1200">
                <a:solidFill>
                  <a:srgbClr val="64748B"/>
                </a:solidFill>
                <a:latin typeface="Calibri"/>
              </a:defRPr>
            </a:pPr>
            <a:r>
              <a:t>Table 3: Troubleshooting laboratory incidents, observed symptoms, and corrective actions.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698480" cy="594360"/>
          </a:xfrm>
          <a:prstGeom prst="rect">
            <a:avLst/>
          </a:prstGeom>
          <a:noFill/>
        </p:spPr>
        <p:txBody>
          <a:bodyPr wrap="square" lIns="0" tIns="0" rIns="0" bIns="0">
            <a:spAutoFit/>
          </a:bodyPr>
          <a:lstStyle/>
          <a:p>
            <a:pPr>
              <a:defRPr sz="3200" b="1">
                <a:solidFill>
                  <a:srgbClr val="1E293B"/>
                </a:solidFill>
                <a:latin typeface="Calibri"/>
              </a:defRPr>
            </a:pPr>
            <a:r>
              <a:t>Project Outcomes, Architectural Limitations &amp; Lessons Learned</a:t>
            </a:r>
          </a:p>
        </p:txBody>
      </p:sp>
      <p:sp>
        <p:nvSpPr>
          <p:cNvPr id="3" name="Rectangle 2"/>
          <p:cNvSpPr/>
          <p:nvPr/>
        </p:nvSpPr>
        <p:spPr>
          <a:xfrm>
            <a:off x="731520" y="1024128"/>
            <a:ext cx="1463040" cy="274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1000">
                <a:solidFill>
                  <a:srgbClr val="64748B"/>
                </a:solidFill>
                <a:latin typeface="Calibri"/>
              </a:defRPr>
            </a:pPr>
            <a:r>
              <a:t>CampusFind — DevOps Engineering Design Review   |   Slide 12 of 12</a:t>
            </a:r>
          </a:p>
        </p:txBody>
      </p:sp>
      <p:sp>
        <p:nvSpPr>
          <p:cNvPr id="5" name="TextBox 4"/>
          <p:cNvSpPr txBox="1"/>
          <p:nvPr/>
        </p:nvSpPr>
        <p:spPr>
          <a:xfrm>
            <a:off x="731520" y="1207008"/>
            <a:ext cx="4983480" cy="4937760"/>
          </a:xfrm>
          <a:prstGeom prst="rect">
            <a:avLst/>
          </a:prstGeom>
          <a:noFill/>
        </p:spPr>
        <p:txBody>
          <a:bodyPr wrap="square" lIns="0" tIns="0" rIns="0" bIns="0">
            <a:spAutoFit/>
          </a:bodyPr>
          <a:lstStyle/>
          <a:p>
            <a:pPr>
              <a:lnSpc>
                <a:spcPct val="115000"/>
              </a:lnSpc>
              <a:spcAft>
                <a:spcPts val="600"/>
              </a:spcAft>
              <a:defRPr sz="1800">
                <a:solidFill>
                  <a:srgbClr val="334155"/>
                </a:solidFill>
                <a:latin typeface="Calibri"/>
              </a:defRPr>
            </a:pPr>
            <a:r>
              <a:t>•  Measured deliverables: 100% automated CI/CD pipeline, zero fixable CVEs, verified Terraform IaC, and dynamic HPA scaling</a:t>
            </a:r>
          </a:p>
          <a:p>
            <a:pPr>
              <a:lnSpc>
                <a:spcPct val="115000"/>
              </a:lnSpc>
              <a:spcAft>
                <a:spcPts val="600"/>
              </a:spcAft>
              <a:defRPr sz="1800">
                <a:solidFill>
                  <a:srgbClr val="334155"/>
                </a:solidFill>
                <a:latin typeface="Calibri"/>
              </a:defRPr>
            </a:pPr>
            <a:r>
              <a:t>•  Local runtime limitation: Kubernetes workloads and Prometheus stack were executed on local kind to eliminate ongoing cloud costs</a:t>
            </a:r>
          </a:p>
          <a:p>
            <a:pPr>
              <a:lnSpc>
                <a:spcPct val="115000"/>
              </a:lnSpc>
              <a:spcAft>
                <a:spcPts val="600"/>
              </a:spcAft>
              <a:defRPr sz="1800">
                <a:solidFill>
                  <a:srgbClr val="334155"/>
                </a:solidFill>
                <a:latin typeface="Calibri"/>
              </a:defRPr>
            </a:pPr>
            <a:r>
              <a:t>•  IaC operational limitation: AWS EKS infrastructure was provisioned and validated via Terraform, then destroyed immediately</a:t>
            </a:r>
          </a:p>
          <a:p>
            <a:pPr>
              <a:lnSpc>
                <a:spcPct val="115000"/>
              </a:lnSpc>
              <a:spcAft>
                <a:spcPts val="600"/>
              </a:spcAft>
              <a:defRPr sz="1800">
                <a:solidFill>
                  <a:srgbClr val="334155"/>
                </a:solidFill>
                <a:latin typeface="Calibri"/>
              </a:defRPr>
            </a:pPr>
            <a:r>
              <a:t>•  Governance constraint: enable_irsa_ebs_csi defaulted to false because an organization SCP blocked IAM OIDC provider creation</a:t>
            </a:r>
          </a:p>
          <a:p>
            <a:pPr>
              <a:lnSpc>
                <a:spcPct val="115000"/>
              </a:lnSpc>
              <a:spcAft>
                <a:spcPts val="600"/>
              </a:spcAft>
              <a:defRPr sz="1800">
                <a:solidFill>
                  <a:srgbClr val="334155"/>
                </a:solidFill>
                <a:latin typeface="Calibri"/>
              </a:defRPr>
            </a:pPr>
            <a:r>
              <a:t>•  Engineering lessons: Shift-left vulnerability scanning in CI prevents supply chain leaks; strict version pinning eliminates drift</a:t>
            </a:r>
          </a:p>
        </p:txBody>
      </p:sp>
      <p:sp>
        <p:nvSpPr>
          <p:cNvPr id="6" name="Rounded Rectangle 5"/>
          <p:cNvSpPr/>
          <p:nvPr/>
        </p:nvSpPr>
        <p:spPr>
          <a:xfrm>
            <a:off x="5989320" y="1234440"/>
            <a:ext cx="548640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63640" y="1417320"/>
            <a:ext cx="4937760" cy="4023360"/>
          </a:xfrm>
          <a:prstGeom prst="rect">
            <a:avLst/>
          </a:prstGeom>
          <a:noFill/>
        </p:spPr>
        <p:txBody>
          <a:bodyPr wrap="square" lIns="0" tIns="0" rIns="0" bIns="0">
            <a:spAutoFit/>
          </a:bodyPr>
          <a:lstStyle/>
          <a:p>
            <a:pPr>
              <a:spcAft>
                <a:spcPts val="1200"/>
              </a:spcAft>
              <a:defRPr sz="2000" b="1">
                <a:solidFill>
                  <a:srgbClr val="0F766E"/>
                </a:solidFill>
                <a:latin typeface="Calibri"/>
              </a:defRPr>
            </a:pPr>
            <a:r>
              <a:t>DevOps Engineering Summary</a:t>
            </a:r>
          </a:p>
          <a:p>
            <a:pPr>
              <a:spcBef>
                <a:spcPts val="600"/>
              </a:spcBef>
              <a:defRPr sz="1500" b="1">
                <a:solidFill>
                  <a:srgbClr val="1E293B"/>
                </a:solidFill>
                <a:latin typeface="Calibri"/>
              </a:defRPr>
            </a:pPr>
            <a:r>
              <a:t>✔  End-to-End Automation</a:t>
            </a:r>
          </a:p>
          <a:p>
            <a:pPr>
              <a:spcAft>
                <a:spcPts val="200"/>
              </a:spcAft>
              <a:defRPr sz="1200">
                <a:solidFill>
                  <a:srgbClr val="334155"/>
                </a:solidFill>
                <a:latin typeface="Calibri"/>
              </a:defRPr>
            </a:pPr>
            <a:r>
              <a:t>    GitHub Actions pipeline builds, tests, scans, and pushes immutable container images tagged by git commit SHA.</a:t>
            </a:r>
          </a:p>
          <a:p>
            <a:pPr>
              <a:spcBef>
                <a:spcPts val="600"/>
              </a:spcBef>
              <a:defRPr sz="1500" b="1">
                <a:solidFill>
                  <a:srgbClr val="1E293B"/>
                </a:solidFill>
                <a:latin typeface="Calibri"/>
              </a:defRPr>
            </a:pPr>
            <a:r>
              <a:t>✔  Proactive Vulnerability Management</a:t>
            </a:r>
          </a:p>
          <a:p>
            <a:pPr>
              <a:spcAft>
                <a:spcPts val="200"/>
              </a:spcAft>
              <a:defRPr sz="1200">
                <a:solidFill>
                  <a:srgbClr val="334155"/>
                </a:solidFill>
                <a:latin typeface="Calibri"/>
              </a:defRPr>
            </a:pPr>
            <a:r>
              <a:t>    Remediated 3 HIGH Starlette CVEs and hardened base images to maintain a strict zero-vulnerability security gate.</a:t>
            </a:r>
          </a:p>
          <a:p>
            <a:pPr>
              <a:spcBef>
                <a:spcPts val="600"/>
              </a:spcBef>
              <a:defRPr sz="1500" b="1">
                <a:solidFill>
                  <a:srgbClr val="1E293B"/>
                </a:solidFill>
                <a:latin typeface="Calibri"/>
              </a:defRPr>
            </a:pPr>
            <a:r>
              <a:t>✔  Infrastructure as Code Discipline</a:t>
            </a:r>
          </a:p>
          <a:p>
            <a:pPr>
              <a:spcAft>
                <a:spcPts val="200"/>
              </a:spcAft>
              <a:defRPr sz="1200">
                <a:solidFill>
                  <a:srgbClr val="334155"/>
                </a:solidFill>
                <a:latin typeface="Calibri"/>
              </a:defRPr>
            </a:pPr>
            <a:r>
              <a:t>    Fully automated 50-resource AWS stack in Sydney; designed around enterprise SCP policies with zero leftover costs.</a:t>
            </a:r>
          </a:p>
          <a:p>
            <a:pPr>
              <a:spcBef>
                <a:spcPts val="600"/>
              </a:spcBef>
              <a:defRPr sz="1500" b="1">
                <a:solidFill>
                  <a:srgbClr val="1E293B"/>
                </a:solidFill>
                <a:latin typeface="Calibri"/>
              </a:defRPr>
            </a:pPr>
            <a:r>
              <a:t>✔  Production-Grade Observability</a:t>
            </a:r>
          </a:p>
          <a:p>
            <a:pPr>
              <a:spcAft>
                <a:spcPts val="200"/>
              </a:spcAft>
              <a:defRPr sz="1200">
                <a:solidFill>
                  <a:srgbClr val="334155"/>
                </a:solidFill>
                <a:latin typeface="Calibri"/>
              </a:defRPr>
            </a:pPr>
            <a:r>
              <a:t>    Continuous Prometheus metrics scraping, custom Grafana dashboards, and dynamic HPA scaling validated under load.</a:t>
            </a:r>
          </a:p>
        </p:txBody>
      </p:sp>
      <p:sp>
        <p:nvSpPr>
          <p:cNvPr id="8" name="TextBox 7"/>
          <p:cNvSpPr txBox="1"/>
          <p:nvPr/>
        </p:nvSpPr>
        <p:spPr>
          <a:xfrm>
            <a:off x="5989320" y="5806440"/>
            <a:ext cx="5486400" cy="411480"/>
          </a:xfrm>
          <a:prstGeom prst="rect">
            <a:avLst/>
          </a:prstGeom>
          <a:noFill/>
        </p:spPr>
        <p:txBody>
          <a:bodyPr wrap="none">
            <a:spAutoFit/>
          </a:bodyPr>
          <a:lstStyle/>
          <a:p>
            <a:pPr algn="ctr">
              <a:defRPr sz="1200">
                <a:solidFill>
                  <a:srgbClr val="64748B"/>
                </a:solidFill>
                <a:latin typeface="Calibri"/>
              </a:defRPr>
            </a:pPr>
            <a:r>
              <a:t>Summary: Engineering deliverables, operational boundaries, and architectural conclusions.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