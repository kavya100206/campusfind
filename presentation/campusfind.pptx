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Today I'm presenting CampusFind, an end-to-end campus lost and found tracking platform built with a complete, production-grade DevOps lifecycle from containerization to cloud infrastructure and observability.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allows students and staff to report items, search across categories, and track statuses through a strict one-way lifecycle. The tech stack pairs a React frontend with a FastAPI backend and PostgreSQL database.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Incoming traffic enters through Traefik ingress, routing requests to our React frontend or FastAPI backend services. PostgreSQL persists state via a 5Gi PersistentVolumeClaim, while Prometheus automatically scrapes metrics for Grafana visualization.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backend implements full CRUD endpoints, health probes, and metrics instrumentation. All 11 pytest integration tests run against an isolated in-memory SQLite database in 0.05 seconds with zero external database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backend and frontend containers run as non-root users for least-privilege security. We diagnosed and fixed an IPv6 resolution issue in Alpine wget by targeting 127.0.0.1, making all containers report fully healthy.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GitHub Actions workflow guarantees software supply chain integrity on every commit to main. Unit tests and frontend builds run first; only passing builds trigger container assembly and publishing to GHCR with immutable commit SHA tags.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scanning is built directly into our deployment pipeline via Aqua Trivy. When our initial scan failed on three HIGH Starlette vulnerabilities in CI Run #8, we updated FastAPI dependencies to resolve Starlette 1.8.0 and updated base Alpine packages.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used Terraform to provision production infrastructure in Sydney ap-southeast-2, including a 4-subnet VPC and an EKS cluster with 2 t3.small nodes. Due to an organization SCP blocking IAM OIDC providers, IRSA and EBS CSI were placed behind a feature flag so the stack provisions and destroys cleanly.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Helm chart deploys highly available frontend and backend deployments with Traefik ingress routing and persistent database storage. An init container ensures Postgres is accepting connections before FastAPI starts, eliminating startup crashes and restarts.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Prometheus Operator scrapes application metrics every 15 seconds through a custom ServiceMonitor. Under simulated load exceeding 100 requests per second, the Horizontal Pod Autoscaler smoothly scaled backend replicas from 2 to 6 with zero 5xx errors.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troubleshooting milestones included diagnosing Kubernetes label mismatches and ImagePullBackOff issues. Our core engineering takeaways emphasize shifting security left, pinning dependencies, and practicing strict cloud resource lifecycle discipline.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463040"/>
            <a:ext cx="9966960" cy="2011680"/>
          </a:xfrm>
          <a:prstGeom prst="rect">
            <a:avLst/>
          </a:prstGeom>
          <a:noFill/>
        </p:spPr>
        <p:txBody>
          <a:bodyPr wrap="square">
            <a:spAutoFit/>
          </a:bodyPr>
          <a:lstStyle/>
          <a:p>
            <a:pPr>
              <a:defRPr sz="4400" b="1">
                <a:solidFill>
                  <a:srgbClr val="0F766E"/>
                </a:solidFill>
                <a:latin typeface="Calibri"/>
              </a:defRPr>
            </a:pPr>
            <a:r>
              <a:t>CampusFind: Campus Lost &amp; Found Tracker</a:t>
            </a:r>
          </a:p>
          <a:p>
            <a:pPr>
              <a:spcBef>
                <a:spcPts val="1200"/>
              </a:spcBef>
              <a:defRPr sz="2400">
                <a:solidFill>
                  <a:srgbClr val="6B7280"/>
                </a:solidFill>
                <a:latin typeface="Calibri"/>
              </a:defRPr>
            </a:pPr>
            <a:r>
              <a:t>End-to-End DevOps Lifecycle &amp; Cloud Infrastructure</a:t>
            </a:r>
          </a:p>
        </p:txBody>
      </p:sp>
      <p:sp>
        <p:nvSpPr>
          <p:cNvPr id="4" name="TextBox 3"/>
          <p:cNvSpPr txBox="1"/>
          <p:nvPr/>
        </p:nvSpPr>
        <p:spPr>
          <a:xfrm>
            <a:off x="1097280" y="3474720"/>
            <a:ext cx="9601200" cy="1645920"/>
          </a:xfrm>
          <a:prstGeom prst="rect">
            <a:avLst/>
          </a:prstGeom>
          <a:noFill/>
        </p:spPr>
        <p:txBody>
          <a:bodyPr wrap="square" lIns="0" tIns="0" rIns="0" bIns="0">
            <a:spAutoFit/>
          </a:bodyPr>
          <a:lstStyle/>
          <a:p>
            <a:pPr>
              <a:lnSpc>
                <a:spcPct val="125000"/>
              </a:lnSpc>
              <a:spcAft>
                <a:spcPts val="1600"/>
              </a:spcAft>
              <a:defRPr sz="2400">
                <a:solidFill>
                  <a:srgbClr val="262626"/>
                </a:solidFill>
                <a:latin typeface="Calibri"/>
              </a:defRPr>
            </a:pPr>
            <a:r>
              <a:t>•  A web app to report, search and recover lost items on campus</a:t>
            </a:r>
          </a:p>
          <a:p>
            <a:pPr>
              <a:lnSpc>
                <a:spcPct val="125000"/>
              </a:lnSpc>
              <a:spcAft>
                <a:spcPts val="1600"/>
              </a:spcAft>
              <a:defRPr sz="2400">
                <a:solidFill>
                  <a:srgbClr val="262626"/>
                </a:solidFill>
                <a:latin typeface="Calibri"/>
              </a:defRPr>
            </a:pPr>
            <a:r>
              <a:t>•  Built end to end with a full DevOps pipeline</a:t>
            </a:r>
          </a:p>
        </p:txBody>
      </p:sp>
      <p:sp>
        <p:nvSpPr>
          <p:cNvPr id="5" name="Rounded Rectangle 4"/>
          <p:cNvSpPr/>
          <p:nvPr/>
        </p:nvSpPr>
        <p:spPr>
          <a:xfrm>
            <a:off x="1097280" y="5120640"/>
            <a:ext cx="4114800" cy="822960"/>
          </a:xfrm>
          <a:prstGeom prst="roundRect">
            <a:avLst/>
          </a:prstGeom>
          <a:solidFill>
            <a:srgbClr val="F8FAFC"/>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5230368"/>
            <a:ext cx="3749039" cy="548640"/>
          </a:xfrm>
          <a:prstGeom prst="rect">
            <a:avLst/>
          </a:prstGeom>
          <a:noFill/>
        </p:spPr>
        <p:txBody>
          <a:bodyPr wrap="none" lIns="0" tIns="0" rIns="0" bIns="0">
            <a:spAutoFit/>
          </a:bodyPr>
          <a:lstStyle/>
          <a:p>
            <a:pPr>
              <a:defRPr sz="2400" b="1">
                <a:solidFill>
                  <a:srgbClr val="0F766E"/>
                </a:solidFill>
                <a:latin typeface="Calibri"/>
              </a:defRPr>
            </a:pPr>
            <a:r>
              <a:t>Presenter: [Your 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02920"/>
            <a:ext cx="10698480" cy="731520"/>
          </a:xfrm>
          <a:prstGeom prst="rect">
            <a:avLst/>
          </a:prstGeom>
          <a:noFill/>
        </p:spPr>
        <p:txBody>
          <a:bodyPr wrap="square" lIns="0" tIns="0" rIns="0" bIns="0">
            <a:spAutoFit/>
          </a:bodyPr>
          <a:lstStyle/>
          <a:p>
            <a:pPr>
              <a:defRPr sz="3600" b="1">
                <a:solidFill>
                  <a:srgbClr val="0F766E"/>
                </a:solidFill>
                <a:latin typeface="Calibri"/>
              </a:defRPr>
            </a:pPr>
            <a:r>
              <a:t>What I built</a:t>
            </a:r>
          </a:p>
        </p:txBody>
      </p:sp>
      <p:sp>
        <p:nvSpPr>
          <p:cNvPr id="3" name="Rectangle 2"/>
          <p:cNvSpPr/>
          <p:nvPr/>
        </p:nvSpPr>
        <p:spPr>
          <a:xfrm>
            <a:off x="731520" y="1234440"/>
            <a:ext cx="1645920" cy="3657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08760"/>
            <a:ext cx="5120640" cy="4754880"/>
          </a:xfrm>
          <a:prstGeom prst="rect">
            <a:avLst/>
          </a:prstGeom>
          <a:noFill/>
        </p:spPr>
        <p:txBody>
          <a:bodyPr wrap="square" lIns="0" tIns="0" rIns="0" bIns="0">
            <a:spAutoFit/>
          </a:bodyPr>
          <a:lstStyle/>
          <a:p>
            <a:pPr>
              <a:lnSpc>
                <a:spcPct val="125000"/>
              </a:lnSpc>
              <a:spcAft>
                <a:spcPts val="1600"/>
              </a:spcAft>
              <a:defRPr sz="2400">
                <a:solidFill>
                  <a:srgbClr val="262626"/>
                </a:solidFill>
                <a:latin typeface="Calibri"/>
              </a:defRPr>
            </a:pPr>
            <a:r>
              <a:t>•  Report lost or found items with category and location</a:t>
            </a:r>
          </a:p>
          <a:p>
            <a:pPr>
              <a:lnSpc>
                <a:spcPct val="125000"/>
              </a:lnSpc>
              <a:spcAft>
                <a:spcPts val="1600"/>
              </a:spcAft>
              <a:defRPr sz="2400">
                <a:solidFill>
                  <a:srgbClr val="262626"/>
                </a:solidFill>
                <a:latin typeface="Calibri"/>
              </a:defRPr>
            </a:pPr>
            <a:r>
              <a:t>•  Search and filter by status, category and keyword</a:t>
            </a:r>
          </a:p>
          <a:p>
            <a:pPr>
              <a:lnSpc>
                <a:spcPct val="125000"/>
              </a:lnSpc>
              <a:spcAft>
                <a:spcPts val="1600"/>
              </a:spcAft>
              <a:defRPr sz="2400">
                <a:solidFill>
                  <a:srgbClr val="262626"/>
                </a:solidFill>
                <a:latin typeface="Calibri"/>
              </a:defRPr>
            </a:pPr>
            <a:r>
              <a:t>•  One-way lifecycle: LOST or FOUND, then CLAIMED</a:t>
            </a:r>
          </a:p>
          <a:p>
            <a:pPr>
              <a:lnSpc>
                <a:spcPct val="125000"/>
              </a:lnSpc>
              <a:spcAft>
                <a:spcPts val="1600"/>
              </a:spcAft>
              <a:defRPr sz="2400">
                <a:solidFill>
                  <a:srgbClr val="262626"/>
                </a:solidFill>
                <a:latin typeface="Calibri"/>
              </a:defRPr>
            </a:pPr>
            <a:r>
              <a:t>•  React frontend, FastAPI backend, PostgreSQL database</a:t>
            </a:r>
          </a:p>
        </p:txBody>
      </p:sp>
      <p:sp>
        <p:nvSpPr>
          <p:cNvPr id="5" name="Rectangle 4"/>
          <p:cNvSpPr/>
          <p:nvPr/>
        </p:nvSpPr>
        <p:spPr>
          <a:xfrm>
            <a:off x="6181344" y="1904238"/>
            <a:ext cx="5285232" cy="3461004"/>
          </a:xfrm>
          <a:prstGeom prst="rect">
            <a:avLst/>
          </a:prstGeom>
          <a:solidFill>
            <a:srgbClr val="FFFFFF"/>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1-app.jpg"/>
          <p:cNvPicPr>
            <a:picLocks noChangeAspect="1"/>
          </p:cNvPicPr>
          <p:nvPr/>
        </p:nvPicPr>
        <p:blipFill>
          <a:blip r:embed="rId2"/>
          <a:stretch>
            <a:fillRect/>
          </a:stretch>
        </p:blipFill>
        <p:spPr>
          <a:xfrm>
            <a:off x="6217920" y="1940814"/>
            <a:ext cx="5212080" cy="3387852"/>
          </a:xfrm>
          <a:prstGeom prst="rect">
            <a:avLst/>
          </a:prstGeom>
        </p:spPr>
      </p:pic>
      <p:sp>
        <p:nvSpPr>
          <p:cNvPr id="7" name="TextBox 6"/>
          <p:cNvSpPr txBox="1"/>
          <p:nvPr/>
        </p:nvSpPr>
        <p:spPr>
          <a:xfrm>
            <a:off x="6217920" y="5870448"/>
            <a:ext cx="5212080" cy="548640"/>
          </a:xfrm>
          <a:prstGeom prst="rect">
            <a:avLst/>
          </a:prstGeom>
          <a:noFill/>
        </p:spPr>
        <p:txBody>
          <a:bodyPr wrap="square" lIns="0" tIns="0" rIns="0" bIns="0">
            <a:spAutoFit/>
          </a:bodyPr>
          <a:lstStyle/>
          <a:p>
            <a:pPr algn="ctr">
              <a:defRPr sz="1400">
                <a:solidFill>
                  <a:srgbClr val="6B7280"/>
                </a:solidFill>
                <a:latin typeface="Calibri"/>
              </a:defRPr>
            </a:pPr>
            <a:r>
              <a:t>CampusFind web application running at localhost:3000 (evidence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02920"/>
            <a:ext cx="10698480" cy="731520"/>
          </a:xfrm>
          <a:prstGeom prst="rect">
            <a:avLst/>
          </a:prstGeom>
          <a:noFill/>
        </p:spPr>
        <p:txBody>
          <a:bodyPr wrap="square" lIns="0" tIns="0" rIns="0" bIns="0">
            <a:spAutoFit/>
          </a:bodyPr>
          <a:lstStyle/>
          <a:p>
            <a:pPr>
              <a:defRPr sz="3600" b="1">
                <a:solidFill>
                  <a:srgbClr val="0F766E"/>
                </a:solidFill>
                <a:latin typeface="Calibri"/>
              </a:defRPr>
            </a:pPr>
            <a:r>
              <a:t>Architecture</a:t>
            </a:r>
          </a:p>
        </p:txBody>
      </p:sp>
      <p:sp>
        <p:nvSpPr>
          <p:cNvPr id="3" name="Rectangle 2"/>
          <p:cNvSpPr/>
          <p:nvPr/>
        </p:nvSpPr>
        <p:spPr>
          <a:xfrm>
            <a:off x="731520" y="1234440"/>
            <a:ext cx="1645920" cy="3657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08760"/>
            <a:ext cx="5120640" cy="4754880"/>
          </a:xfrm>
          <a:prstGeom prst="rect">
            <a:avLst/>
          </a:prstGeom>
          <a:noFill/>
        </p:spPr>
        <p:txBody>
          <a:bodyPr wrap="square" lIns="0" tIns="0" rIns="0" bIns="0">
            <a:spAutoFit/>
          </a:bodyPr>
          <a:lstStyle/>
          <a:p>
            <a:pPr>
              <a:lnSpc>
                <a:spcPct val="125000"/>
              </a:lnSpc>
              <a:spcAft>
                <a:spcPts val="1600"/>
              </a:spcAft>
              <a:defRPr sz="2400">
                <a:solidFill>
                  <a:srgbClr val="262626"/>
                </a:solidFill>
                <a:latin typeface="Calibri"/>
              </a:defRPr>
            </a:pPr>
            <a:r>
              <a:t>•  Browser to Traefik ingress, then frontend and backend services</a:t>
            </a:r>
          </a:p>
          <a:p>
            <a:pPr>
              <a:lnSpc>
                <a:spcPct val="125000"/>
              </a:lnSpc>
              <a:spcAft>
                <a:spcPts val="1600"/>
              </a:spcAft>
              <a:defRPr sz="2400">
                <a:solidFill>
                  <a:srgbClr val="262626"/>
                </a:solidFill>
                <a:latin typeface="Calibri"/>
              </a:defRPr>
            </a:pPr>
            <a:r>
              <a:t>•  Backend talks to PostgreSQL (with a PersistentVolumeClaim)</a:t>
            </a:r>
          </a:p>
          <a:p>
            <a:pPr>
              <a:lnSpc>
                <a:spcPct val="125000"/>
              </a:lnSpc>
              <a:spcAft>
                <a:spcPts val="1600"/>
              </a:spcAft>
              <a:defRPr sz="2400">
                <a:solidFill>
                  <a:srgbClr val="262626"/>
                </a:solidFill>
                <a:latin typeface="Calibri"/>
              </a:defRPr>
            </a:pPr>
            <a:r>
              <a:t>•  Prometheus scrapes /metrics, Grafana shows dashboards</a:t>
            </a:r>
          </a:p>
        </p:txBody>
      </p:sp>
      <p:sp>
        <p:nvSpPr>
          <p:cNvPr id="5" name="Rectangle 4"/>
          <p:cNvSpPr/>
          <p:nvPr/>
        </p:nvSpPr>
        <p:spPr>
          <a:xfrm>
            <a:off x="6181344" y="1969389"/>
            <a:ext cx="5285232" cy="3330702"/>
          </a:xfrm>
          <a:prstGeom prst="rect">
            <a:avLst/>
          </a:prstGeom>
          <a:solidFill>
            <a:srgbClr val="FFFFFF"/>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chitecture.jpg"/>
          <p:cNvPicPr>
            <a:picLocks noChangeAspect="1"/>
          </p:cNvPicPr>
          <p:nvPr/>
        </p:nvPicPr>
        <p:blipFill>
          <a:blip r:embed="rId2"/>
          <a:stretch>
            <a:fillRect/>
          </a:stretch>
        </p:blipFill>
        <p:spPr>
          <a:xfrm>
            <a:off x="6217920" y="2005965"/>
            <a:ext cx="5212080" cy="3257550"/>
          </a:xfrm>
          <a:prstGeom prst="rect">
            <a:avLst/>
          </a:prstGeom>
        </p:spPr>
      </p:pic>
      <p:sp>
        <p:nvSpPr>
          <p:cNvPr id="7" name="TextBox 6"/>
          <p:cNvSpPr txBox="1"/>
          <p:nvPr/>
        </p:nvSpPr>
        <p:spPr>
          <a:xfrm>
            <a:off x="6217920" y="5870448"/>
            <a:ext cx="5212080" cy="548640"/>
          </a:xfrm>
          <a:prstGeom prst="rect">
            <a:avLst/>
          </a:prstGeom>
          <a:noFill/>
        </p:spPr>
        <p:txBody>
          <a:bodyPr wrap="square" lIns="0" tIns="0" rIns="0" bIns="0">
            <a:spAutoFit/>
          </a:bodyPr>
          <a:lstStyle/>
          <a:p>
            <a:pPr algn="ctr">
              <a:defRPr sz="1400">
                <a:solidFill>
                  <a:srgbClr val="6B7280"/>
                </a:solidFill>
                <a:latin typeface="Calibri"/>
              </a:defRPr>
            </a:pPr>
            <a:r>
              <a:t>System architecture: Traefik ingress, microservices, PostgreSQL PVC, and Prometheus/Grafana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02920"/>
            <a:ext cx="10698480" cy="731520"/>
          </a:xfrm>
          <a:prstGeom prst="rect">
            <a:avLst/>
          </a:prstGeom>
          <a:noFill/>
        </p:spPr>
        <p:txBody>
          <a:bodyPr wrap="square" lIns="0" tIns="0" rIns="0" bIns="0">
            <a:spAutoFit/>
          </a:bodyPr>
          <a:lstStyle/>
          <a:p>
            <a:pPr>
              <a:defRPr sz="3600" b="1">
                <a:solidFill>
                  <a:srgbClr val="0F766E"/>
                </a:solidFill>
                <a:latin typeface="Calibri"/>
              </a:defRPr>
            </a:pPr>
            <a:r>
              <a:t>Backend, database and tests</a:t>
            </a:r>
          </a:p>
        </p:txBody>
      </p:sp>
      <p:sp>
        <p:nvSpPr>
          <p:cNvPr id="3" name="Rectangle 2"/>
          <p:cNvSpPr/>
          <p:nvPr/>
        </p:nvSpPr>
        <p:spPr>
          <a:xfrm>
            <a:off x="731520" y="1234440"/>
            <a:ext cx="1645920" cy="3657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08760"/>
            <a:ext cx="5120640" cy="4754880"/>
          </a:xfrm>
          <a:prstGeom prst="rect">
            <a:avLst/>
          </a:prstGeom>
          <a:noFill/>
        </p:spPr>
        <p:txBody>
          <a:bodyPr wrap="square" lIns="0" tIns="0" rIns="0" bIns="0">
            <a:spAutoFit/>
          </a:bodyPr>
          <a:lstStyle/>
          <a:p>
            <a:pPr>
              <a:lnSpc>
                <a:spcPct val="125000"/>
              </a:lnSpc>
              <a:spcAft>
                <a:spcPts val="1600"/>
              </a:spcAft>
              <a:defRPr sz="2400">
                <a:solidFill>
                  <a:srgbClr val="262626"/>
                </a:solidFill>
                <a:latin typeface="Calibri"/>
              </a:defRPr>
            </a:pPr>
            <a:r>
              <a:t>•  FastAPI REST API: create, list (with filters), get, update, delete, stats</a:t>
            </a:r>
          </a:p>
          <a:p>
            <a:pPr>
              <a:lnSpc>
                <a:spcPct val="125000"/>
              </a:lnSpc>
              <a:spcAft>
                <a:spcPts val="1600"/>
              </a:spcAft>
              <a:defRPr sz="2400">
                <a:solidFill>
                  <a:srgbClr val="262626"/>
                </a:solidFill>
                <a:latin typeface="Calibri"/>
              </a:defRPr>
            </a:pPr>
            <a:r>
              <a:t>•  Alembic migration creates the items table</a:t>
            </a:r>
          </a:p>
          <a:p>
            <a:pPr>
              <a:lnSpc>
                <a:spcPct val="125000"/>
              </a:lnSpc>
              <a:spcAft>
                <a:spcPts val="1600"/>
              </a:spcAft>
              <a:defRPr sz="2400">
                <a:solidFill>
                  <a:srgbClr val="262626"/>
                </a:solidFill>
                <a:latin typeface="Calibri"/>
              </a:defRPr>
            </a:pPr>
            <a:r>
              <a:t>•  11 pytest tests, run against in-memory SQLite (no real database)</a:t>
            </a:r>
          </a:p>
          <a:p>
            <a:pPr>
              <a:lnSpc>
                <a:spcPct val="125000"/>
              </a:lnSpc>
              <a:spcAft>
                <a:spcPts val="1600"/>
              </a:spcAft>
              <a:defRPr sz="2400">
                <a:solidFill>
                  <a:srgbClr val="262626"/>
                </a:solidFill>
                <a:latin typeface="Calibri"/>
              </a:defRPr>
            </a:pPr>
            <a:r>
              <a:t>•  Health, readiness and Prometheus metrics endpoints</a:t>
            </a:r>
          </a:p>
        </p:txBody>
      </p:sp>
      <p:sp>
        <p:nvSpPr>
          <p:cNvPr id="5" name="Rectangle 4"/>
          <p:cNvSpPr/>
          <p:nvPr/>
        </p:nvSpPr>
        <p:spPr>
          <a:xfrm>
            <a:off x="6181344" y="2622527"/>
            <a:ext cx="5285232" cy="2024424"/>
          </a:xfrm>
          <a:prstGeom prst="rect">
            <a:avLst/>
          </a:prstGeom>
          <a:solidFill>
            <a:srgbClr val="FFFFFF"/>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tests.jpg"/>
          <p:cNvPicPr>
            <a:picLocks noChangeAspect="1"/>
          </p:cNvPicPr>
          <p:nvPr/>
        </p:nvPicPr>
        <p:blipFill>
          <a:blip r:embed="rId2"/>
          <a:stretch>
            <a:fillRect/>
          </a:stretch>
        </p:blipFill>
        <p:spPr>
          <a:xfrm>
            <a:off x="6217920" y="2659103"/>
            <a:ext cx="5212080" cy="1951272"/>
          </a:xfrm>
          <a:prstGeom prst="rect">
            <a:avLst/>
          </a:prstGeom>
        </p:spPr>
      </p:pic>
      <p:sp>
        <p:nvSpPr>
          <p:cNvPr id="7" name="TextBox 6"/>
          <p:cNvSpPr txBox="1"/>
          <p:nvPr/>
        </p:nvSpPr>
        <p:spPr>
          <a:xfrm>
            <a:off x="6217920" y="5870448"/>
            <a:ext cx="5212080" cy="548640"/>
          </a:xfrm>
          <a:prstGeom prst="rect">
            <a:avLst/>
          </a:prstGeom>
          <a:noFill/>
        </p:spPr>
        <p:txBody>
          <a:bodyPr wrap="square" lIns="0" tIns="0" rIns="0" bIns="0">
            <a:spAutoFit/>
          </a:bodyPr>
          <a:lstStyle/>
          <a:p>
            <a:pPr algn="ctr">
              <a:defRPr sz="1400">
                <a:solidFill>
                  <a:srgbClr val="6B7280"/>
                </a:solidFill>
                <a:latin typeface="Calibri"/>
              </a:defRPr>
            </a:pPr>
            <a:r>
              <a:t>11 unit and API integration tests passing with pytest in 0.05s (evidence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02920"/>
            <a:ext cx="10698480" cy="731520"/>
          </a:xfrm>
          <a:prstGeom prst="rect">
            <a:avLst/>
          </a:prstGeom>
          <a:noFill/>
        </p:spPr>
        <p:txBody>
          <a:bodyPr wrap="square" lIns="0" tIns="0" rIns="0" bIns="0">
            <a:spAutoFit/>
          </a:bodyPr>
          <a:lstStyle/>
          <a:p>
            <a:pPr>
              <a:defRPr sz="3600" b="1">
                <a:solidFill>
                  <a:srgbClr val="0F766E"/>
                </a:solidFill>
                <a:latin typeface="Calibri"/>
              </a:defRPr>
            </a:pPr>
            <a:r>
              <a:t>Docker</a:t>
            </a:r>
          </a:p>
        </p:txBody>
      </p:sp>
      <p:sp>
        <p:nvSpPr>
          <p:cNvPr id="3" name="Rectangle 2"/>
          <p:cNvSpPr/>
          <p:nvPr/>
        </p:nvSpPr>
        <p:spPr>
          <a:xfrm>
            <a:off x="731520" y="1234440"/>
            <a:ext cx="1645920" cy="3657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08760"/>
            <a:ext cx="5120640" cy="4754880"/>
          </a:xfrm>
          <a:prstGeom prst="rect">
            <a:avLst/>
          </a:prstGeom>
          <a:noFill/>
        </p:spPr>
        <p:txBody>
          <a:bodyPr wrap="square" lIns="0" tIns="0" rIns="0" bIns="0">
            <a:spAutoFit/>
          </a:bodyPr>
          <a:lstStyle/>
          <a:p>
            <a:pPr>
              <a:lnSpc>
                <a:spcPct val="125000"/>
              </a:lnSpc>
              <a:spcAft>
                <a:spcPts val="1600"/>
              </a:spcAft>
              <a:defRPr sz="2400">
                <a:solidFill>
                  <a:srgbClr val="262626"/>
                </a:solidFill>
                <a:latin typeface="Calibri"/>
              </a:defRPr>
            </a:pPr>
            <a:r>
              <a:t>•  Backend and frontend images both run as non-root users</a:t>
            </a:r>
          </a:p>
          <a:p>
            <a:pPr>
              <a:lnSpc>
                <a:spcPct val="125000"/>
              </a:lnSpc>
              <a:spcAft>
                <a:spcPts val="1600"/>
              </a:spcAft>
              <a:defRPr sz="2400">
                <a:solidFill>
                  <a:srgbClr val="262626"/>
                </a:solidFill>
                <a:latin typeface="Calibri"/>
              </a:defRPr>
            </a:pPr>
            <a:r>
              <a:t>•  Frontend: multi-stage build, Node then unprivileged nginx</a:t>
            </a:r>
          </a:p>
          <a:p>
            <a:pPr>
              <a:lnSpc>
                <a:spcPct val="125000"/>
              </a:lnSpc>
              <a:spcAft>
                <a:spcPts val="1600"/>
              </a:spcAft>
              <a:defRPr sz="2400">
                <a:solidFill>
                  <a:srgbClr val="262626"/>
                </a:solidFill>
                <a:latin typeface="Calibri"/>
              </a:defRPr>
            </a:pPr>
            <a:r>
              <a:t>•  docker compose up --build starts frontend, backend and Postgres</a:t>
            </a:r>
          </a:p>
          <a:p>
            <a:pPr>
              <a:lnSpc>
                <a:spcPct val="125000"/>
              </a:lnSpc>
              <a:spcAft>
                <a:spcPts val="1600"/>
              </a:spcAft>
              <a:defRPr sz="2400">
                <a:solidFill>
                  <a:srgbClr val="262626"/>
                </a:solidFill>
                <a:latin typeface="Calibri"/>
              </a:defRPr>
            </a:pPr>
            <a:r>
              <a:t>•  Fixed a bug: health check resolved localhost to IPv6, now uses 127.0.0.1</a:t>
            </a:r>
          </a:p>
        </p:txBody>
      </p:sp>
      <p:sp>
        <p:nvSpPr>
          <p:cNvPr id="5" name="Rectangle 4"/>
          <p:cNvSpPr/>
          <p:nvPr/>
        </p:nvSpPr>
        <p:spPr>
          <a:xfrm>
            <a:off x="6181344" y="3348961"/>
            <a:ext cx="5285232" cy="571557"/>
          </a:xfrm>
          <a:prstGeom prst="rect">
            <a:avLst/>
          </a:prstGeom>
          <a:solidFill>
            <a:srgbClr val="FFFFFF"/>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compose.jpg"/>
          <p:cNvPicPr>
            <a:picLocks noChangeAspect="1"/>
          </p:cNvPicPr>
          <p:nvPr/>
        </p:nvPicPr>
        <p:blipFill>
          <a:blip r:embed="rId2"/>
          <a:stretch>
            <a:fillRect/>
          </a:stretch>
        </p:blipFill>
        <p:spPr>
          <a:xfrm>
            <a:off x="6217920" y="3385537"/>
            <a:ext cx="5212080" cy="498405"/>
          </a:xfrm>
          <a:prstGeom prst="rect">
            <a:avLst/>
          </a:prstGeom>
        </p:spPr>
      </p:pic>
      <p:sp>
        <p:nvSpPr>
          <p:cNvPr id="7" name="TextBox 6"/>
          <p:cNvSpPr txBox="1"/>
          <p:nvPr/>
        </p:nvSpPr>
        <p:spPr>
          <a:xfrm>
            <a:off x="6217920" y="5870448"/>
            <a:ext cx="5212080" cy="548640"/>
          </a:xfrm>
          <a:prstGeom prst="rect">
            <a:avLst/>
          </a:prstGeom>
          <a:noFill/>
        </p:spPr>
        <p:txBody>
          <a:bodyPr wrap="square" lIns="0" tIns="0" rIns="0" bIns="0">
            <a:spAutoFit/>
          </a:bodyPr>
          <a:lstStyle/>
          <a:p>
            <a:pPr algn="ctr">
              <a:defRPr sz="1400">
                <a:solidFill>
                  <a:srgbClr val="6B7280"/>
                </a:solidFill>
                <a:latin typeface="Calibri"/>
              </a:defRPr>
            </a:pPr>
            <a:r>
              <a:t>Docker Compose services running healthy with non-root containers (evidence 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02920"/>
            <a:ext cx="10698480" cy="731520"/>
          </a:xfrm>
          <a:prstGeom prst="rect">
            <a:avLst/>
          </a:prstGeom>
          <a:noFill/>
        </p:spPr>
        <p:txBody>
          <a:bodyPr wrap="square" lIns="0" tIns="0" rIns="0" bIns="0">
            <a:spAutoFit/>
          </a:bodyPr>
          <a:lstStyle/>
          <a:p>
            <a:pPr>
              <a:defRPr sz="3600" b="1">
                <a:solidFill>
                  <a:srgbClr val="0F766E"/>
                </a:solidFill>
                <a:latin typeface="Calibri"/>
              </a:defRPr>
            </a:pPr>
            <a:r>
              <a:t>CI/CD with GitHub Actions</a:t>
            </a:r>
          </a:p>
        </p:txBody>
      </p:sp>
      <p:sp>
        <p:nvSpPr>
          <p:cNvPr id="3" name="Rectangle 2"/>
          <p:cNvSpPr/>
          <p:nvPr/>
        </p:nvSpPr>
        <p:spPr>
          <a:xfrm>
            <a:off x="731520" y="1234440"/>
            <a:ext cx="1645920" cy="3657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08760"/>
            <a:ext cx="5120640" cy="4754880"/>
          </a:xfrm>
          <a:prstGeom prst="rect">
            <a:avLst/>
          </a:prstGeom>
          <a:noFill/>
        </p:spPr>
        <p:txBody>
          <a:bodyPr wrap="square" lIns="0" tIns="0" rIns="0" bIns="0">
            <a:spAutoFit/>
          </a:bodyPr>
          <a:lstStyle/>
          <a:p>
            <a:pPr>
              <a:lnSpc>
                <a:spcPct val="125000"/>
              </a:lnSpc>
              <a:spcAft>
                <a:spcPts val="1600"/>
              </a:spcAft>
              <a:defRPr sz="2400">
                <a:solidFill>
                  <a:srgbClr val="262626"/>
                </a:solidFill>
                <a:latin typeface="Calibri"/>
              </a:defRPr>
            </a:pPr>
            <a:r>
              <a:t>•  Runs on every push to main</a:t>
            </a:r>
          </a:p>
          <a:p>
            <a:pPr>
              <a:lnSpc>
                <a:spcPct val="125000"/>
              </a:lnSpc>
              <a:spcAft>
                <a:spcPts val="1600"/>
              </a:spcAft>
              <a:defRPr sz="2400">
                <a:solidFill>
                  <a:srgbClr val="262626"/>
                </a:solidFill>
                <a:latin typeface="Calibri"/>
              </a:defRPr>
            </a:pPr>
            <a:r>
              <a:t>•  Tests and frontend build first; image build only if they pass</a:t>
            </a:r>
          </a:p>
          <a:p>
            <a:pPr>
              <a:lnSpc>
                <a:spcPct val="125000"/>
              </a:lnSpc>
              <a:spcAft>
                <a:spcPts val="1600"/>
              </a:spcAft>
              <a:defRPr sz="2400">
                <a:solidFill>
                  <a:srgbClr val="262626"/>
                </a:solidFill>
                <a:latin typeface="Calibri"/>
              </a:defRPr>
            </a:pPr>
            <a:r>
              <a:t>•  Images tagged with the commit SHA (never latest), pushed to GHCR</a:t>
            </a:r>
          </a:p>
        </p:txBody>
      </p:sp>
      <p:sp>
        <p:nvSpPr>
          <p:cNvPr id="5" name="Rounded Rectangle 4"/>
          <p:cNvSpPr/>
          <p:nvPr/>
        </p:nvSpPr>
        <p:spPr>
          <a:xfrm>
            <a:off x="6217920" y="1508760"/>
            <a:ext cx="5212080" cy="4389120"/>
          </a:xfrm>
          <a:prstGeom prst="roundRect">
            <a:avLst/>
          </a:prstGeom>
          <a:solidFill>
            <a:srgbClr val="F8FAFC"/>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0" y="1737360"/>
            <a:ext cx="4663440" cy="3931920"/>
          </a:xfrm>
          <a:prstGeom prst="rect">
            <a:avLst/>
          </a:prstGeom>
          <a:noFill/>
        </p:spPr>
        <p:txBody>
          <a:bodyPr wrap="square" lIns="0" tIns="0" rIns="0" bIns="0">
            <a:spAutoFit/>
          </a:bodyPr>
          <a:lstStyle/>
          <a:p>
            <a:pPr>
              <a:spcAft>
                <a:spcPts val="1400"/>
              </a:spcAft>
              <a:defRPr sz="2000" b="1">
                <a:solidFill>
                  <a:srgbClr val="0F766E"/>
                </a:solidFill>
                <a:latin typeface="Calibri"/>
              </a:defRPr>
            </a:pPr>
            <a:r>
              <a:t>Automated Pipeline Flow (.github/workflows/ci-cd.yml)</a:t>
            </a:r>
          </a:p>
          <a:p>
            <a:pPr>
              <a:spcBef>
                <a:spcPts val="800"/>
              </a:spcBef>
              <a:defRPr sz="1700" b="1">
                <a:solidFill>
                  <a:srgbClr val="262626"/>
                </a:solidFill>
                <a:latin typeface="Calibri"/>
              </a:defRPr>
            </a:pPr>
            <a:r>
              <a:t>✔  Stage 1: Test &amp; Quality Gate</a:t>
            </a:r>
          </a:p>
          <a:p>
            <a:pPr>
              <a:spcAft>
                <a:spcPts val="400"/>
              </a:spcAft>
              <a:defRPr sz="1500">
                <a:solidFill>
                  <a:srgbClr val="6B7280"/>
                </a:solidFill>
                <a:latin typeface="Calibri"/>
              </a:defRPr>
            </a:pPr>
            <a:r>
              <a:t>    Runs 11 pytest unit tests on Python 3.12 and compiles frontend with Node 22.</a:t>
            </a:r>
          </a:p>
          <a:p>
            <a:pPr>
              <a:spcBef>
                <a:spcPts val="800"/>
              </a:spcBef>
              <a:defRPr sz="1700" b="1">
                <a:solidFill>
                  <a:srgbClr val="262626"/>
                </a:solidFill>
                <a:latin typeface="Calibri"/>
              </a:defRPr>
            </a:pPr>
            <a:r>
              <a:t>✔  Stage 2: Container Image Build</a:t>
            </a:r>
          </a:p>
          <a:p>
            <a:pPr>
              <a:spcAft>
                <a:spcPts val="400"/>
              </a:spcAft>
              <a:defRPr sz="1500">
                <a:solidFill>
                  <a:srgbClr val="6B7280"/>
                </a:solidFill>
                <a:latin typeface="Calibri"/>
              </a:defRPr>
            </a:pPr>
            <a:r>
              <a:t>    Builds multi-stage backend and unprivileged Nginx frontend images.</a:t>
            </a:r>
          </a:p>
          <a:p>
            <a:pPr>
              <a:spcBef>
                <a:spcPts val="800"/>
              </a:spcBef>
              <a:defRPr sz="1700" b="1">
                <a:solidFill>
                  <a:srgbClr val="262626"/>
                </a:solidFill>
                <a:latin typeface="Calibri"/>
              </a:defRPr>
            </a:pPr>
            <a:r>
              <a:t>✔  Stage 3: Vulnerability Scanning</a:t>
            </a:r>
          </a:p>
          <a:p>
            <a:pPr>
              <a:spcAft>
                <a:spcPts val="400"/>
              </a:spcAft>
              <a:defRPr sz="1500">
                <a:solidFill>
                  <a:srgbClr val="6B7280"/>
                </a:solidFill>
                <a:latin typeface="Calibri"/>
              </a:defRPr>
            </a:pPr>
            <a:r>
              <a:t>    Aqua Trivy scans both images, failing the build on fixable HIGH/CRITICAL CVEs.</a:t>
            </a:r>
          </a:p>
          <a:p>
            <a:pPr>
              <a:spcBef>
                <a:spcPts val="800"/>
              </a:spcBef>
              <a:defRPr sz="1700" b="1">
                <a:solidFill>
                  <a:srgbClr val="262626"/>
                </a:solidFill>
                <a:latin typeface="Calibri"/>
              </a:defRPr>
            </a:pPr>
            <a:r>
              <a:t>✔  Stage 4: GHCR Registry Publish</a:t>
            </a:r>
          </a:p>
          <a:p>
            <a:pPr>
              <a:spcAft>
                <a:spcPts val="400"/>
              </a:spcAft>
              <a:defRPr sz="1500">
                <a:solidFill>
                  <a:srgbClr val="6B7280"/>
                </a:solidFill>
                <a:latin typeface="Calibri"/>
              </a:defRPr>
            </a:pPr>
            <a:r>
              <a:t>    Pushes immutable images tagged with commit SHA (${{ github.sha }}) to GHCR.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02920"/>
            <a:ext cx="10698480" cy="731520"/>
          </a:xfrm>
          <a:prstGeom prst="rect">
            <a:avLst/>
          </a:prstGeom>
          <a:noFill/>
        </p:spPr>
        <p:txBody>
          <a:bodyPr wrap="square" lIns="0" tIns="0" rIns="0" bIns="0">
            <a:spAutoFit/>
          </a:bodyPr>
          <a:lstStyle/>
          <a:p>
            <a:pPr>
              <a:defRPr sz="3600" b="1">
                <a:solidFill>
                  <a:srgbClr val="0F766E"/>
                </a:solidFill>
                <a:latin typeface="Calibri"/>
              </a:defRPr>
            </a:pPr>
            <a:r>
              <a:t>DevSecOps: Trivy</a:t>
            </a:r>
          </a:p>
        </p:txBody>
      </p:sp>
      <p:sp>
        <p:nvSpPr>
          <p:cNvPr id="3" name="Rectangle 2"/>
          <p:cNvSpPr/>
          <p:nvPr/>
        </p:nvSpPr>
        <p:spPr>
          <a:xfrm>
            <a:off x="731520" y="1234440"/>
            <a:ext cx="1645920" cy="3657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08760"/>
            <a:ext cx="5120640" cy="4754880"/>
          </a:xfrm>
          <a:prstGeom prst="rect">
            <a:avLst/>
          </a:prstGeom>
          <a:noFill/>
        </p:spPr>
        <p:txBody>
          <a:bodyPr wrap="square" lIns="0" tIns="0" rIns="0" bIns="0">
            <a:spAutoFit/>
          </a:bodyPr>
          <a:lstStyle/>
          <a:p>
            <a:pPr>
              <a:lnSpc>
                <a:spcPct val="125000"/>
              </a:lnSpc>
              <a:spcAft>
                <a:spcPts val="1600"/>
              </a:spcAft>
              <a:defRPr sz="2400">
                <a:solidFill>
                  <a:srgbClr val="262626"/>
                </a:solidFill>
                <a:latin typeface="Calibri"/>
              </a:defRPr>
            </a:pPr>
            <a:r>
              <a:t>•  Both images scanned; build fails on fixable HIGH or CRITICAL CVEs</a:t>
            </a:r>
          </a:p>
          <a:p>
            <a:pPr>
              <a:lnSpc>
                <a:spcPct val="125000"/>
              </a:lnSpc>
              <a:spcAft>
                <a:spcPts val="1600"/>
              </a:spcAft>
              <a:defRPr sz="2400">
                <a:solidFill>
                  <a:srgbClr val="262626"/>
                </a:solidFill>
                <a:latin typeface="Calibri"/>
              </a:defRPr>
            </a:pPr>
            <a:r>
              <a:t>•  First run failed: 3 HIGH Starlette CVEs in CI Run #8</a:t>
            </a:r>
          </a:p>
          <a:p>
            <a:pPr>
              <a:lnSpc>
                <a:spcPct val="125000"/>
              </a:lnSpc>
              <a:spcAft>
                <a:spcPts val="1600"/>
              </a:spcAft>
              <a:defRPr sz="2400">
                <a:solidFill>
                  <a:srgbClr val="262626"/>
                </a:solidFill>
                <a:latin typeface="Calibri"/>
              </a:defRPr>
            </a:pPr>
            <a:r>
              <a:t>•  Fixed by upgrading FastAPI so Starlette resolves to a patched version</a:t>
            </a:r>
          </a:p>
          <a:p>
            <a:pPr>
              <a:lnSpc>
                <a:spcPct val="125000"/>
              </a:lnSpc>
              <a:spcAft>
                <a:spcPts val="1600"/>
              </a:spcAft>
              <a:defRPr sz="2400">
                <a:solidFill>
                  <a:srgbClr val="262626"/>
                </a:solidFill>
                <a:latin typeface="Calibri"/>
              </a:defRPr>
            </a:pPr>
            <a:r>
              <a:t>•  Updated Alpine packages with apk upgrade; ignore-unfixed skips zero-day CVEs</a:t>
            </a:r>
          </a:p>
        </p:txBody>
      </p:sp>
      <p:sp>
        <p:nvSpPr>
          <p:cNvPr id="5" name="Rounded Rectangle 4"/>
          <p:cNvSpPr/>
          <p:nvPr/>
        </p:nvSpPr>
        <p:spPr>
          <a:xfrm>
            <a:off x="6217920" y="1508760"/>
            <a:ext cx="5212080" cy="4389120"/>
          </a:xfrm>
          <a:prstGeom prst="roundRect">
            <a:avLst/>
          </a:prstGeom>
          <a:solidFill>
            <a:srgbClr val="F8FAFC"/>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0" y="1737360"/>
            <a:ext cx="4663440" cy="3931920"/>
          </a:xfrm>
          <a:prstGeom prst="rect">
            <a:avLst/>
          </a:prstGeom>
          <a:noFill/>
        </p:spPr>
        <p:txBody>
          <a:bodyPr wrap="square" lIns="0" tIns="0" rIns="0" bIns="0">
            <a:spAutoFit/>
          </a:bodyPr>
          <a:lstStyle/>
          <a:p>
            <a:pPr>
              <a:spcAft>
                <a:spcPts val="1200"/>
              </a:spcAft>
              <a:defRPr sz="2000" b="1">
                <a:solidFill>
                  <a:srgbClr val="0F766E"/>
                </a:solidFill>
                <a:latin typeface="Calibri"/>
              </a:defRPr>
            </a:pPr>
            <a:r>
              <a:t>Trivy Scan Audit &amp; Resolution (Actions Log)</a:t>
            </a:r>
          </a:p>
          <a:p>
            <a:pPr>
              <a:spcBef>
                <a:spcPts val="800"/>
              </a:spcBef>
              <a:defRPr sz="1600" b="1">
                <a:solidFill>
                  <a:srgbClr val="262626"/>
                </a:solidFill>
                <a:latin typeface="Calibri"/>
              </a:defRPr>
            </a:pPr>
            <a:r>
              <a:t>• CVE-2025-62727 (HIGH)</a:t>
            </a:r>
          </a:p>
          <a:p>
            <a:pPr>
              <a:spcAft>
                <a:spcPts val="400"/>
              </a:spcAft>
              <a:defRPr sz="1400">
                <a:solidFill>
                  <a:srgbClr val="6B7280"/>
                </a:solidFill>
                <a:latin typeface="Calibri"/>
              </a:defRPr>
            </a:pPr>
            <a:r>
              <a:t>   Starlette Range header merging DoS -&gt; Patched in &gt;=0.49.1</a:t>
            </a:r>
          </a:p>
          <a:p>
            <a:pPr>
              <a:spcBef>
                <a:spcPts val="800"/>
              </a:spcBef>
              <a:defRPr sz="1600" b="1">
                <a:solidFill>
                  <a:srgbClr val="262626"/>
                </a:solidFill>
                <a:latin typeface="Calibri"/>
              </a:defRPr>
            </a:pPr>
            <a:r>
              <a:t>• CVE-2026-48818 (HIGH)</a:t>
            </a:r>
          </a:p>
          <a:p>
            <a:pPr>
              <a:spcAft>
                <a:spcPts val="400"/>
              </a:spcAft>
              <a:defRPr sz="1400">
                <a:solidFill>
                  <a:srgbClr val="6B7280"/>
                </a:solidFill>
                <a:latin typeface="Calibri"/>
              </a:defRPr>
            </a:pPr>
            <a:r>
              <a:t>   Starlette SSRF/UNC path leak in StaticFiles -&gt; Patched in &gt;=1.1.0</a:t>
            </a:r>
          </a:p>
          <a:p>
            <a:pPr>
              <a:spcBef>
                <a:spcPts val="800"/>
              </a:spcBef>
              <a:defRPr sz="1600" b="1">
                <a:solidFill>
                  <a:srgbClr val="262626"/>
                </a:solidFill>
                <a:latin typeface="Calibri"/>
              </a:defRPr>
            </a:pPr>
            <a:r>
              <a:t>• CVE-2026-54283 (HIGH)</a:t>
            </a:r>
          </a:p>
          <a:p>
            <a:pPr>
              <a:spcAft>
                <a:spcPts val="400"/>
              </a:spcAft>
              <a:defRPr sz="1400">
                <a:solidFill>
                  <a:srgbClr val="6B7280"/>
                </a:solidFill>
                <a:latin typeface="Calibri"/>
              </a:defRPr>
            </a:pPr>
            <a:r>
              <a:t>   Starlette request.form() memory limit bypass DoS -&gt; Patched in &gt;=1.3.1</a:t>
            </a:r>
          </a:p>
          <a:p>
            <a:pPr>
              <a:spcBef>
                <a:spcPts val="800"/>
              </a:spcBef>
              <a:defRPr sz="1600" b="1">
                <a:solidFill>
                  <a:srgbClr val="262626"/>
                </a:solidFill>
                <a:latin typeface="Calibri"/>
              </a:defRPr>
            </a:pPr>
            <a:r>
              <a:t>• Resolution in CI Run #10</a:t>
            </a:r>
          </a:p>
          <a:p>
            <a:pPr>
              <a:spcAft>
                <a:spcPts val="400"/>
              </a:spcAft>
              <a:defRPr sz="1400">
                <a:solidFill>
                  <a:srgbClr val="6B7280"/>
                </a:solidFill>
                <a:latin typeface="Calibri"/>
              </a:defRPr>
            </a:pPr>
            <a:r>
              <a:t>   Bumped fastapi&gt;=0.115.8 and prometheus-fastapi-instrumentator to pull Starlette 1.8.0; updated base Alpine packages.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02920"/>
            <a:ext cx="10698480" cy="731520"/>
          </a:xfrm>
          <a:prstGeom prst="rect">
            <a:avLst/>
          </a:prstGeom>
          <a:noFill/>
        </p:spPr>
        <p:txBody>
          <a:bodyPr wrap="square" lIns="0" tIns="0" rIns="0" bIns="0">
            <a:spAutoFit/>
          </a:bodyPr>
          <a:lstStyle/>
          <a:p>
            <a:pPr>
              <a:defRPr sz="3600" b="1">
                <a:solidFill>
                  <a:srgbClr val="0F766E"/>
                </a:solidFill>
                <a:latin typeface="Calibri"/>
              </a:defRPr>
            </a:pPr>
            <a:r>
              <a:t>Terraform on AWS</a:t>
            </a:r>
          </a:p>
        </p:txBody>
      </p:sp>
      <p:sp>
        <p:nvSpPr>
          <p:cNvPr id="3" name="Rectangle 2"/>
          <p:cNvSpPr/>
          <p:nvPr/>
        </p:nvSpPr>
        <p:spPr>
          <a:xfrm>
            <a:off x="731520" y="1234440"/>
            <a:ext cx="1645920" cy="3657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08760"/>
            <a:ext cx="4937760" cy="4754880"/>
          </a:xfrm>
          <a:prstGeom prst="rect">
            <a:avLst/>
          </a:prstGeom>
          <a:noFill/>
        </p:spPr>
        <p:txBody>
          <a:bodyPr wrap="square" lIns="0" tIns="0" rIns="0" bIns="0">
            <a:spAutoFit/>
          </a:bodyPr>
          <a:lstStyle/>
          <a:p>
            <a:pPr>
              <a:lnSpc>
                <a:spcPct val="125000"/>
              </a:lnSpc>
              <a:spcAft>
                <a:spcPts val="1600"/>
              </a:spcAft>
              <a:defRPr sz="2300">
                <a:solidFill>
                  <a:srgbClr val="262626"/>
                </a:solidFill>
                <a:latin typeface="Calibri"/>
              </a:defRPr>
            </a:pPr>
            <a:r>
              <a:t>•  VPC with 2 public and 2 private subnets, NAT gateway, EKS cluster, managed node group (Sydney)</a:t>
            </a:r>
          </a:p>
          <a:p>
            <a:pPr>
              <a:lnSpc>
                <a:spcPct val="125000"/>
              </a:lnSpc>
              <a:spcAft>
                <a:spcPts val="1600"/>
              </a:spcAft>
              <a:defRPr sz="2300">
                <a:solidFill>
                  <a:srgbClr val="262626"/>
                </a:solidFill>
                <a:latin typeface="Calibri"/>
              </a:defRPr>
            </a:pPr>
            <a:r>
              <a:t>•  Plan: 50 resources (verified in plan); applied, verified in the console, then destroyed</a:t>
            </a:r>
          </a:p>
          <a:p>
            <a:pPr>
              <a:lnSpc>
                <a:spcPct val="125000"/>
              </a:lnSpc>
              <a:spcAft>
                <a:spcPts val="1600"/>
              </a:spcAft>
              <a:defRPr sz="2300">
                <a:solidFill>
                  <a:srgbClr val="262626"/>
                </a:solidFill>
                <a:latin typeface="Calibri"/>
              </a:defRPr>
            </a:pPr>
            <a:r>
              <a:t>•  IRSA / EBS CSI is optional (flag), because an organisation policy on my account blocked the IAM OIDC provider</a:t>
            </a:r>
          </a:p>
        </p:txBody>
      </p:sp>
      <p:sp>
        <p:nvSpPr>
          <p:cNvPr id="5" name="Rectangle 4"/>
          <p:cNvSpPr/>
          <p:nvPr/>
        </p:nvSpPr>
        <p:spPr>
          <a:xfrm>
            <a:off x="6816604" y="1472184"/>
            <a:ext cx="3648950" cy="1993392"/>
          </a:xfrm>
          <a:prstGeom prst="rect">
            <a:avLst/>
          </a:prstGeom>
          <a:solidFill>
            <a:srgbClr val="FFFFFF"/>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8-plan.jpg"/>
          <p:cNvPicPr>
            <a:picLocks noChangeAspect="1"/>
          </p:cNvPicPr>
          <p:nvPr/>
        </p:nvPicPr>
        <p:blipFill>
          <a:blip r:embed="rId2"/>
          <a:stretch>
            <a:fillRect/>
          </a:stretch>
        </p:blipFill>
        <p:spPr>
          <a:xfrm>
            <a:off x="6853180" y="1508760"/>
            <a:ext cx="3575798" cy="1920240"/>
          </a:xfrm>
          <a:prstGeom prst="rect">
            <a:avLst/>
          </a:prstGeom>
        </p:spPr>
      </p:pic>
      <p:sp>
        <p:nvSpPr>
          <p:cNvPr id="7" name="TextBox 6"/>
          <p:cNvSpPr txBox="1"/>
          <p:nvPr/>
        </p:nvSpPr>
        <p:spPr>
          <a:xfrm>
            <a:off x="5852160" y="3538728"/>
            <a:ext cx="5577840" cy="548640"/>
          </a:xfrm>
          <a:prstGeom prst="rect">
            <a:avLst/>
          </a:prstGeom>
          <a:noFill/>
        </p:spPr>
        <p:txBody>
          <a:bodyPr wrap="square" lIns="0" tIns="0" rIns="0" bIns="0">
            <a:spAutoFit/>
          </a:bodyPr>
          <a:lstStyle/>
          <a:p>
            <a:pPr algn="ctr">
              <a:defRPr sz="1400">
                <a:solidFill>
                  <a:srgbClr val="6B7280"/>
                </a:solidFill>
                <a:latin typeface="Calibri"/>
              </a:defRPr>
            </a:pPr>
            <a:r>
              <a:t>Terraform plan: 50 to add, 2x t3.small nodes (evidence 8)</a:t>
            </a:r>
          </a:p>
        </p:txBody>
      </p:sp>
      <p:sp>
        <p:nvSpPr>
          <p:cNvPr id="8" name="Rectangle 7"/>
          <p:cNvSpPr/>
          <p:nvPr/>
        </p:nvSpPr>
        <p:spPr>
          <a:xfrm>
            <a:off x="6645075" y="3941063"/>
            <a:ext cx="3992009" cy="1993392"/>
          </a:xfrm>
          <a:prstGeom prst="rect">
            <a:avLst/>
          </a:prstGeom>
          <a:solidFill>
            <a:srgbClr val="FFFFFF"/>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9a-vpc.jpg"/>
          <p:cNvPicPr>
            <a:picLocks noChangeAspect="1"/>
          </p:cNvPicPr>
          <p:nvPr/>
        </p:nvPicPr>
        <p:blipFill>
          <a:blip r:embed="rId3"/>
          <a:stretch>
            <a:fillRect/>
          </a:stretch>
        </p:blipFill>
        <p:spPr>
          <a:xfrm>
            <a:off x="6681651" y="3977639"/>
            <a:ext cx="3918857" cy="1920240"/>
          </a:xfrm>
          <a:prstGeom prst="rect">
            <a:avLst/>
          </a:prstGeom>
        </p:spPr>
      </p:pic>
      <p:sp>
        <p:nvSpPr>
          <p:cNvPr id="10" name="TextBox 9"/>
          <p:cNvSpPr txBox="1"/>
          <p:nvPr/>
        </p:nvSpPr>
        <p:spPr>
          <a:xfrm>
            <a:off x="5852160" y="6007607"/>
            <a:ext cx="5577840" cy="548640"/>
          </a:xfrm>
          <a:prstGeom prst="rect">
            <a:avLst/>
          </a:prstGeom>
          <a:noFill/>
        </p:spPr>
        <p:txBody>
          <a:bodyPr wrap="square" lIns="0" tIns="0" rIns="0" bIns="0">
            <a:spAutoFit/>
          </a:bodyPr>
          <a:lstStyle/>
          <a:p>
            <a:pPr algn="ctr">
              <a:defRPr sz="1400">
                <a:solidFill>
                  <a:srgbClr val="6B7280"/>
                </a:solidFill>
                <a:latin typeface="Calibri"/>
              </a:defRPr>
            </a:pPr>
            <a:r>
              <a:t>AWS VPC console: 4 subnets across 2 AZs, route tables, and NAT Gateway (evidence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02920"/>
            <a:ext cx="10698480" cy="731520"/>
          </a:xfrm>
          <a:prstGeom prst="rect">
            <a:avLst/>
          </a:prstGeom>
          <a:noFill/>
        </p:spPr>
        <p:txBody>
          <a:bodyPr wrap="square" lIns="0" tIns="0" rIns="0" bIns="0">
            <a:spAutoFit/>
          </a:bodyPr>
          <a:lstStyle/>
          <a:p>
            <a:pPr>
              <a:defRPr sz="3600" b="1">
                <a:solidFill>
                  <a:srgbClr val="0F766E"/>
                </a:solidFill>
                <a:latin typeface="Calibri"/>
              </a:defRPr>
            </a:pPr>
            <a:r>
              <a:t>Kubernetes and Helm (local kind cluster)</a:t>
            </a:r>
          </a:p>
        </p:txBody>
      </p:sp>
      <p:sp>
        <p:nvSpPr>
          <p:cNvPr id="3" name="Rectangle 2"/>
          <p:cNvSpPr/>
          <p:nvPr/>
        </p:nvSpPr>
        <p:spPr>
          <a:xfrm>
            <a:off x="731520" y="1234440"/>
            <a:ext cx="1645920" cy="3657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08760"/>
            <a:ext cx="5029200" cy="4754880"/>
          </a:xfrm>
          <a:prstGeom prst="rect">
            <a:avLst/>
          </a:prstGeom>
          <a:noFill/>
        </p:spPr>
        <p:txBody>
          <a:bodyPr wrap="square" lIns="0" tIns="0" rIns="0" bIns="0">
            <a:spAutoFit/>
          </a:bodyPr>
          <a:lstStyle/>
          <a:p>
            <a:pPr>
              <a:lnSpc>
                <a:spcPct val="125000"/>
              </a:lnSpc>
              <a:spcAft>
                <a:spcPts val="1600"/>
              </a:spcAft>
              <a:defRPr sz="2400">
                <a:solidFill>
                  <a:srgbClr val="262626"/>
                </a:solidFill>
                <a:latin typeface="Calibri"/>
              </a:defRPr>
            </a:pPr>
            <a:r>
              <a:t>•  Helm chart: frontend and backend with 2 replicas each, ClusterIP services, ingress, Postgres with PVC</a:t>
            </a:r>
          </a:p>
          <a:p>
            <a:pPr>
              <a:lnSpc>
                <a:spcPct val="125000"/>
              </a:lnSpc>
              <a:spcAft>
                <a:spcPts val="1600"/>
              </a:spcAft>
              <a:defRPr sz="2400">
                <a:solidFill>
                  <a:srgbClr val="262626"/>
                </a:solidFill>
                <a:latin typeface="Calibri"/>
              </a:defRPr>
            </a:pPr>
            <a:r>
              <a:t>•  Backend autoscaling (HPA on CPU); init container waits for Postgres, so no startup restarts</a:t>
            </a:r>
          </a:p>
          <a:p>
            <a:pPr>
              <a:lnSpc>
                <a:spcPct val="125000"/>
              </a:lnSpc>
              <a:spcAft>
                <a:spcPts val="1600"/>
              </a:spcAft>
              <a:defRPr sz="2400">
                <a:solidFill>
                  <a:srgbClr val="262626"/>
                </a:solidFill>
                <a:latin typeface="Calibri"/>
              </a:defRPr>
            </a:pPr>
            <a:r>
              <a:t>•  Run on a local kind cluster to avoid cloud cost</a:t>
            </a:r>
          </a:p>
        </p:txBody>
      </p:sp>
      <p:sp>
        <p:nvSpPr>
          <p:cNvPr id="5" name="Rectangle 4"/>
          <p:cNvSpPr/>
          <p:nvPr/>
        </p:nvSpPr>
        <p:spPr>
          <a:xfrm>
            <a:off x="5998464" y="3033379"/>
            <a:ext cx="5468112" cy="1202721"/>
          </a:xfrm>
          <a:prstGeom prst="rect">
            <a:avLst/>
          </a:prstGeom>
          <a:solidFill>
            <a:srgbClr val="FFFFFF"/>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12-k8s.jpg"/>
          <p:cNvPicPr>
            <a:picLocks noChangeAspect="1"/>
          </p:cNvPicPr>
          <p:nvPr/>
        </p:nvPicPr>
        <p:blipFill>
          <a:blip r:embed="rId2"/>
          <a:stretch>
            <a:fillRect/>
          </a:stretch>
        </p:blipFill>
        <p:spPr>
          <a:xfrm>
            <a:off x="6035040" y="3069955"/>
            <a:ext cx="5394960" cy="1129569"/>
          </a:xfrm>
          <a:prstGeom prst="rect">
            <a:avLst/>
          </a:prstGeom>
        </p:spPr>
      </p:pic>
      <p:sp>
        <p:nvSpPr>
          <p:cNvPr id="7" name="TextBox 6"/>
          <p:cNvSpPr txBox="1"/>
          <p:nvPr/>
        </p:nvSpPr>
        <p:spPr>
          <a:xfrm>
            <a:off x="6035040" y="5870448"/>
            <a:ext cx="5394960" cy="548640"/>
          </a:xfrm>
          <a:prstGeom prst="rect">
            <a:avLst/>
          </a:prstGeom>
          <a:noFill/>
        </p:spPr>
        <p:txBody>
          <a:bodyPr wrap="square" lIns="0" tIns="0" rIns="0" bIns="0">
            <a:spAutoFit/>
          </a:bodyPr>
          <a:lstStyle/>
          <a:p>
            <a:pPr algn="ctr">
              <a:defRPr sz="1400">
                <a:solidFill>
                  <a:srgbClr val="6B7280"/>
                </a:solidFill>
                <a:latin typeface="Calibri"/>
              </a:defRPr>
            </a:pPr>
            <a:r>
              <a:t>Kubernetes resources: 2 replicas, Traefik ingress, HPA (2-6), and bound PVC (evidence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02920"/>
            <a:ext cx="10698480" cy="731520"/>
          </a:xfrm>
          <a:prstGeom prst="rect">
            <a:avLst/>
          </a:prstGeom>
          <a:noFill/>
        </p:spPr>
        <p:txBody>
          <a:bodyPr wrap="square" lIns="0" tIns="0" rIns="0" bIns="0">
            <a:spAutoFit/>
          </a:bodyPr>
          <a:lstStyle/>
          <a:p>
            <a:pPr>
              <a:defRPr sz="3600" b="1">
                <a:solidFill>
                  <a:srgbClr val="0F766E"/>
                </a:solidFill>
                <a:latin typeface="Calibri"/>
              </a:defRPr>
            </a:pPr>
            <a:r>
              <a:t>Observability</a:t>
            </a:r>
          </a:p>
        </p:txBody>
      </p:sp>
      <p:sp>
        <p:nvSpPr>
          <p:cNvPr id="3" name="Rectangle 2"/>
          <p:cNvSpPr/>
          <p:nvPr/>
        </p:nvSpPr>
        <p:spPr>
          <a:xfrm>
            <a:off x="731520" y="1234440"/>
            <a:ext cx="1645920" cy="3657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08760"/>
            <a:ext cx="5029200" cy="4754880"/>
          </a:xfrm>
          <a:prstGeom prst="rect">
            <a:avLst/>
          </a:prstGeom>
          <a:noFill/>
        </p:spPr>
        <p:txBody>
          <a:bodyPr wrap="square" lIns="0" tIns="0" rIns="0" bIns="0">
            <a:spAutoFit/>
          </a:bodyPr>
          <a:lstStyle/>
          <a:p>
            <a:pPr>
              <a:lnSpc>
                <a:spcPct val="125000"/>
              </a:lnSpc>
              <a:spcAft>
                <a:spcPts val="1600"/>
              </a:spcAft>
              <a:defRPr sz="2400">
                <a:solidFill>
                  <a:srgbClr val="262626"/>
                </a:solidFill>
                <a:latin typeface="Calibri"/>
              </a:defRPr>
            </a:pPr>
            <a:r>
              <a:t>•  ServiceMonitor lets Prometheus scrape the backend; target shows UP</a:t>
            </a:r>
          </a:p>
          <a:p>
            <a:pPr>
              <a:lnSpc>
                <a:spcPct val="125000"/>
              </a:lnSpc>
              <a:spcAft>
                <a:spcPts val="1600"/>
              </a:spcAft>
              <a:defRPr sz="2400">
                <a:solidFill>
                  <a:srgbClr val="262626"/>
                </a:solidFill>
                <a:latin typeface="Calibri"/>
              </a:defRPr>
            </a:pPr>
            <a:r>
              <a:t>•  Grafana dashboard: request rate, p95 latency, 5xx errors, replica count</a:t>
            </a:r>
          </a:p>
          <a:p>
            <a:pPr>
              <a:lnSpc>
                <a:spcPct val="125000"/>
              </a:lnSpc>
              <a:spcAft>
                <a:spcPts val="1600"/>
              </a:spcAft>
              <a:defRPr sz="2400">
                <a:solidFill>
                  <a:srgbClr val="262626"/>
                </a:solidFill>
                <a:latin typeface="Calibri"/>
              </a:defRPr>
            </a:pPr>
            <a:r>
              <a:t>•  Load test pushed ~130 requests per second with zero 5xx errors</a:t>
            </a:r>
          </a:p>
          <a:p>
            <a:pPr>
              <a:lnSpc>
                <a:spcPct val="125000"/>
              </a:lnSpc>
              <a:spcAft>
                <a:spcPts val="1600"/>
              </a:spcAft>
              <a:defRPr sz="2400">
                <a:solidFill>
                  <a:srgbClr val="262626"/>
                </a:solidFill>
                <a:latin typeface="Calibri"/>
              </a:defRPr>
            </a:pPr>
            <a:r>
              <a:t>•  HPA automatically scaled the backend from 2 to 6 replicas</a:t>
            </a:r>
          </a:p>
        </p:txBody>
      </p:sp>
      <p:sp>
        <p:nvSpPr>
          <p:cNvPr id="5" name="Rectangle 4"/>
          <p:cNvSpPr/>
          <p:nvPr/>
        </p:nvSpPr>
        <p:spPr>
          <a:xfrm>
            <a:off x="5998464" y="1844802"/>
            <a:ext cx="5468112" cy="3579876"/>
          </a:xfrm>
          <a:prstGeom prst="rect">
            <a:avLst/>
          </a:prstGeom>
          <a:solidFill>
            <a:srgbClr val="FFFFFF"/>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17-grafana.jpg"/>
          <p:cNvPicPr>
            <a:picLocks noChangeAspect="1"/>
          </p:cNvPicPr>
          <p:nvPr/>
        </p:nvPicPr>
        <p:blipFill>
          <a:blip r:embed="rId2"/>
          <a:stretch>
            <a:fillRect/>
          </a:stretch>
        </p:blipFill>
        <p:spPr>
          <a:xfrm>
            <a:off x="6035040" y="1881378"/>
            <a:ext cx="5394960" cy="3506724"/>
          </a:xfrm>
          <a:prstGeom prst="rect">
            <a:avLst/>
          </a:prstGeom>
        </p:spPr>
      </p:pic>
      <p:sp>
        <p:nvSpPr>
          <p:cNvPr id="7" name="TextBox 6"/>
          <p:cNvSpPr txBox="1"/>
          <p:nvPr/>
        </p:nvSpPr>
        <p:spPr>
          <a:xfrm>
            <a:off x="6035040" y="5870448"/>
            <a:ext cx="5394960" cy="548640"/>
          </a:xfrm>
          <a:prstGeom prst="rect">
            <a:avLst/>
          </a:prstGeom>
          <a:noFill/>
        </p:spPr>
        <p:txBody>
          <a:bodyPr wrap="square" lIns="0" tIns="0" rIns="0" bIns="0">
            <a:spAutoFit/>
          </a:bodyPr>
          <a:lstStyle/>
          <a:p>
            <a:pPr algn="ctr">
              <a:defRPr sz="1400">
                <a:solidFill>
                  <a:srgbClr val="6B7280"/>
                </a:solidFill>
                <a:latin typeface="Calibri"/>
              </a:defRPr>
            </a:pPr>
            <a:r>
              <a:t>Grafana dashboard under load: ~130 req/s peak, 0 errors, HPA scaling 2 to 6 replicas (evidence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502920"/>
            <a:ext cx="10698480" cy="731520"/>
          </a:xfrm>
          <a:prstGeom prst="rect">
            <a:avLst/>
          </a:prstGeom>
          <a:noFill/>
        </p:spPr>
        <p:txBody>
          <a:bodyPr wrap="square" lIns="0" tIns="0" rIns="0" bIns="0">
            <a:spAutoFit/>
          </a:bodyPr>
          <a:lstStyle/>
          <a:p>
            <a:pPr>
              <a:defRPr sz="3600" b="1">
                <a:solidFill>
                  <a:srgbClr val="0F766E"/>
                </a:solidFill>
                <a:latin typeface="Calibri"/>
              </a:defRPr>
            </a:pPr>
            <a:r>
              <a:t>Troubleshooting and lessons</a:t>
            </a:r>
          </a:p>
        </p:txBody>
      </p:sp>
      <p:sp>
        <p:nvSpPr>
          <p:cNvPr id="3" name="Rectangle 2"/>
          <p:cNvSpPr/>
          <p:nvPr/>
        </p:nvSpPr>
        <p:spPr>
          <a:xfrm>
            <a:off x="731520" y="1234440"/>
            <a:ext cx="1645920" cy="3657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508760"/>
            <a:ext cx="5120640" cy="4389120"/>
          </a:xfrm>
          <a:prstGeom prst="roundRect">
            <a:avLst/>
          </a:prstGeom>
          <a:solidFill>
            <a:srgbClr val="F8FAFC"/>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737360"/>
            <a:ext cx="4572000" cy="3931920"/>
          </a:xfrm>
          <a:prstGeom prst="rect">
            <a:avLst/>
          </a:prstGeom>
          <a:noFill/>
        </p:spPr>
        <p:txBody>
          <a:bodyPr wrap="square" lIns="0" tIns="0" rIns="0" bIns="0">
            <a:spAutoFit/>
          </a:bodyPr>
          <a:lstStyle/>
          <a:p>
            <a:pPr>
              <a:spcAft>
                <a:spcPts val="1400"/>
              </a:spcAft>
              <a:defRPr sz="2200" b="1">
                <a:solidFill>
                  <a:srgbClr val="0F766E"/>
                </a:solidFill>
                <a:latin typeface="Calibri"/>
              </a:defRPr>
            </a:pPr>
            <a:r>
              <a:t>Key Technical Issues Diagnosed</a:t>
            </a:r>
          </a:p>
          <a:p>
            <a:pPr>
              <a:spcBef>
                <a:spcPts val="800"/>
              </a:spcBef>
              <a:defRPr sz="1800" b="1">
                <a:solidFill>
                  <a:srgbClr val="262626"/>
                </a:solidFill>
                <a:latin typeface="Calibri"/>
              </a:defRPr>
            </a:pPr>
            <a:r>
              <a:t>•  ImagePullBackOff Resolution</a:t>
            </a:r>
          </a:p>
          <a:p>
            <a:pPr>
              <a:spcAft>
                <a:spcPts val="600"/>
              </a:spcAft>
              <a:defRPr sz="1500">
                <a:solidFill>
                  <a:srgbClr val="6B7280"/>
                </a:solidFill>
                <a:latin typeface="Calibri"/>
              </a:defRPr>
            </a:pPr>
            <a:r>
              <a:t>    Diagnosed image registry pull failure caused by incorrect image tag and missing pull secret.</a:t>
            </a:r>
          </a:p>
          <a:p>
            <a:pPr>
              <a:spcBef>
                <a:spcPts val="800"/>
              </a:spcBef>
              <a:defRPr sz="1800" b="1">
                <a:solidFill>
                  <a:srgbClr val="262626"/>
                </a:solidFill>
                <a:latin typeface="Calibri"/>
              </a:defRPr>
            </a:pPr>
            <a:r>
              <a:t>•  Service Endpoint Mismatch</a:t>
            </a:r>
          </a:p>
          <a:p>
            <a:pPr>
              <a:spcAft>
                <a:spcPts val="600"/>
              </a:spcAft>
              <a:defRPr sz="1500">
                <a:solidFill>
                  <a:srgbClr val="6B7280"/>
                </a:solidFill>
                <a:latin typeface="Calibri"/>
              </a:defRPr>
            </a:pPr>
            <a:r>
              <a:t>    Resolved 502 Bad Gateway caused by label selector mismatch between Service and Pod templates.</a:t>
            </a:r>
          </a:p>
          <a:p>
            <a:pPr>
              <a:spcBef>
                <a:spcPts val="800"/>
              </a:spcBef>
              <a:defRPr sz="1800" b="1">
                <a:solidFill>
                  <a:srgbClr val="262626"/>
                </a:solidFill>
                <a:latin typeface="Calibri"/>
              </a:defRPr>
            </a:pPr>
            <a:r>
              <a:t>•  IPv6 Health Check Timeout</a:t>
            </a:r>
          </a:p>
          <a:p>
            <a:pPr>
              <a:spcAft>
                <a:spcPts val="600"/>
              </a:spcAft>
              <a:defRPr sz="1500">
                <a:solidFill>
                  <a:srgbClr val="6B7280"/>
                </a:solidFill>
                <a:latin typeface="Calibri"/>
              </a:defRPr>
            </a:pPr>
            <a:r>
              <a:t>    Fixed Docker Compose health check by explicitly targeting 127.0.0.1 instead of localhost.</a:t>
            </a:r>
          </a:p>
        </p:txBody>
      </p:sp>
      <p:sp>
        <p:nvSpPr>
          <p:cNvPr id="6" name="Rounded Rectangle 5"/>
          <p:cNvSpPr/>
          <p:nvPr/>
        </p:nvSpPr>
        <p:spPr>
          <a:xfrm>
            <a:off x="6217920" y="1508760"/>
            <a:ext cx="5212080" cy="4389120"/>
          </a:xfrm>
          <a:prstGeom prst="roundRect">
            <a:avLst/>
          </a:prstGeom>
          <a:solidFill>
            <a:srgbClr val="F8FAFC"/>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737360"/>
            <a:ext cx="4663440" cy="3931920"/>
          </a:xfrm>
          <a:prstGeom prst="rect">
            <a:avLst/>
          </a:prstGeom>
          <a:noFill/>
        </p:spPr>
        <p:txBody>
          <a:bodyPr wrap="square" lIns="0" tIns="0" rIns="0" bIns="0">
            <a:spAutoFit/>
          </a:bodyPr>
          <a:lstStyle/>
          <a:p>
            <a:pPr>
              <a:spcAft>
                <a:spcPts val="1400"/>
              </a:spcAft>
              <a:defRPr sz="2200" b="1">
                <a:solidFill>
                  <a:srgbClr val="0F766E"/>
                </a:solidFill>
                <a:latin typeface="Calibri"/>
              </a:defRPr>
            </a:pPr>
            <a:r>
              <a:t>Core Engineering Takeaways</a:t>
            </a:r>
          </a:p>
          <a:p>
            <a:pPr>
              <a:spcBef>
                <a:spcPts val="800"/>
              </a:spcBef>
              <a:defRPr sz="1800" b="1">
                <a:solidFill>
                  <a:srgbClr val="262626"/>
                </a:solidFill>
                <a:latin typeface="Calibri"/>
              </a:defRPr>
            </a:pPr>
            <a:r>
              <a:t>✔  Pin Strict Dependency Versions</a:t>
            </a:r>
          </a:p>
          <a:p>
            <a:pPr>
              <a:spcAft>
                <a:spcPts val="400"/>
              </a:spcAft>
              <a:defRPr sz="1500">
                <a:solidFill>
                  <a:srgbClr val="6B7280"/>
                </a:solidFill>
                <a:latin typeface="Calibri"/>
              </a:defRPr>
            </a:pPr>
            <a:r>
              <a:t>    Avoid unexpected upstream breaks by pinning Docker base images, Python packages, and Helm charts.</a:t>
            </a:r>
          </a:p>
          <a:p>
            <a:pPr>
              <a:spcBef>
                <a:spcPts val="800"/>
              </a:spcBef>
              <a:defRPr sz="1800" b="1">
                <a:solidFill>
                  <a:srgbClr val="262626"/>
                </a:solidFill>
                <a:latin typeface="Calibri"/>
              </a:defRPr>
            </a:pPr>
            <a:r>
              <a:t>✔  Shift Security Left with Trivy</a:t>
            </a:r>
          </a:p>
          <a:p>
            <a:pPr>
              <a:spcAft>
                <a:spcPts val="400"/>
              </a:spcAft>
              <a:defRPr sz="1500">
                <a:solidFill>
                  <a:srgbClr val="6B7280"/>
                </a:solidFill>
                <a:latin typeface="Calibri"/>
              </a:defRPr>
            </a:pPr>
            <a:r>
              <a:t>    Catch high and critical CVEs early in CI before container images are pushed to registries.</a:t>
            </a:r>
          </a:p>
          <a:p>
            <a:pPr>
              <a:spcBef>
                <a:spcPts val="800"/>
              </a:spcBef>
              <a:defRPr sz="1800" b="1">
                <a:solidFill>
                  <a:srgbClr val="262626"/>
                </a:solidFill>
                <a:latin typeface="Calibri"/>
              </a:defRPr>
            </a:pPr>
            <a:r>
              <a:t>✔  Zero Secrets Committed</a:t>
            </a:r>
          </a:p>
          <a:p>
            <a:pPr>
              <a:spcAft>
                <a:spcPts val="400"/>
              </a:spcAft>
              <a:defRPr sz="1500">
                <a:solidFill>
                  <a:srgbClr val="6B7280"/>
                </a:solidFill>
                <a:latin typeface="Calibri"/>
              </a:defRPr>
            </a:pPr>
            <a:r>
              <a:t>    Enforce strict .gitignore rules and pass credentials via runtime environment variables.</a:t>
            </a:r>
          </a:p>
          <a:p>
            <a:pPr>
              <a:spcBef>
                <a:spcPts val="800"/>
              </a:spcBef>
              <a:defRPr sz="1800" b="1">
                <a:solidFill>
                  <a:srgbClr val="262626"/>
                </a:solidFill>
                <a:latin typeface="Calibri"/>
              </a:defRPr>
            </a:pPr>
            <a:r>
              <a:t>✔  Disciplined Cloud Lifecycle</a:t>
            </a:r>
          </a:p>
          <a:p>
            <a:pPr>
              <a:spcAft>
                <a:spcPts val="400"/>
              </a:spcAft>
              <a:defRPr sz="1500">
                <a:solidFill>
                  <a:srgbClr val="6B7280"/>
                </a:solidFill>
                <a:latin typeface="Calibri"/>
              </a:defRPr>
            </a:pPr>
            <a:r>
              <a:t>    Always plan before applying and destroy cloud resources immediately after verification.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